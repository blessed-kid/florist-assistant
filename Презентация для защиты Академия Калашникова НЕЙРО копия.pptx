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4"/>
  </p:notesMasterIdLst>
  <p:sldIdLst>
    <p:sldId id="364" r:id="rId2"/>
    <p:sldId id="366" r:id="rId3"/>
    <p:sldId id="283" r:id="rId4"/>
    <p:sldId id="368" r:id="rId5"/>
    <p:sldId id="362" r:id="rId6"/>
    <p:sldId id="367" r:id="rId7"/>
    <p:sldId id="335" r:id="rId8"/>
    <p:sldId id="266" r:id="rId9"/>
    <p:sldId id="359" r:id="rId10"/>
    <p:sldId id="370" r:id="rId11"/>
    <p:sldId id="281" r:id="rId12"/>
    <p:sldId id="37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orient="horz" pos="255" userDrawn="1">
          <p15:clr>
            <a:srgbClr val="A4A3A4"/>
          </p15:clr>
        </p15:guide>
        <p15:guide id="5" pos="279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B8ECEE"/>
    <a:srgbClr val="1EDDC3"/>
    <a:srgbClr val="383288"/>
    <a:srgbClr val="6460A3"/>
    <a:srgbClr val="38D4D6"/>
    <a:srgbClr val="00FCD6"/>
    <a:srgbClr val="A7FEFF"/>
    <a:srgbClr val="ADD05B"/>
    <a:srgbClr val="00D3A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3" autoAdjust="0"/>
    <p:restoredTop sz="91440" autoAdjust="0"/>
  </p:normalViewPr>
  <p:slideViewPr>
    <p:cSldViewPr snapToGrid="0">
      <p:cViewPr varScale="1">
        <p:scale>
          <a:sx n="82" d="100"/>
          <a:sy n="82" d="100"/>
        </p:scale>
        <p:origin x="-110" y="-77"/>
      </p:cViewPr>
      <p:guideLst>
        <p:guide orient="horz" pos="2160"/>
        <p:guide orient="horz" pos="4110"/>
        <p:guide orient="horz" pos="255"/>
        <p:guide pos="3840"/>
        <p:guide pos="279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16EBE-57CE-4EBC-BD57-A999DD88B7D5}" type="datetimeFigureOut">
              <a:rPr lang="ru-RU" smtClean="0"/>
              <a:pPr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0E1ED-FC16-4B0B-8773-5C0CA34C349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3933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0E1ED-FC16-4B0B-8773-5C0CA34C3495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30989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0E1ED-FC16-4B0B-8773-5C0CA34C3495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02239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0E1ED-FC16-4B0B-8773-5C0CA34C3495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8318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0E1ED-FC16-4B0B-8773-5C0CA34C3495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22C4-5890-4BAD-8498-20FC638D3D2D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53743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F7C0A-99A3-4131-A8CA-37CCA2C15721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2233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6747-94EC-4900-9ED3-95AB4BFD2264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478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55F1D-5625-440C-9856-3A440C837E96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4281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71869-FA64-4112-8C15-DDCEBB7A1EAE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5376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3553-1733-4AA1-A760-E792F47EC760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2520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969B-B549-422A-8485-9E8B79F0F1BA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459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94C7-F4D4-4EC9-8507-C3F3313DF19B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7531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56E-1413-4F71-9DFD-5FB76794B520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6718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05989-68E6-460D-BF67-325041EB9E16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511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B7DF-28DB-4128-AB97-46784A6A143D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59986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561FF-9C0A-41C8-8CA4-F9A2E3B7F909}" type="datetime1">
              <a:rPr lang="ru-RU" smtClean="0"/>
              <a:pPr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F3A8F-34D8-4C4D-BF8F-7BFCB9C228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5333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рямоугольник 80"/>
          <p:cNvSpPr/>
          <p:nvPr/>
        </p:nvSpPr>
        <p:spPr>
          <a:xfrm>
            <a:off x="0" y="1767874"/>
            <a:ext cx="12192000" cy="21445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                            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51618" y="1956165"/>
            <a:ext cx="89842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 smtClean="0">
                <a:solidFill>
                  <a:schemeClr val="bg1"/>
                </a:solidFill>
              </a:rPr>
              <a:t>ПОМОЩНИК ФЛОРИСТА</a:t>
            </a:r>
            <a:endParaRPr lang="ru-RU" sz="5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A53B7785-62B4-BD49-B771-31C22AFD7ED1}"/>
              </a:ext>
            </a:extLst>
          </p:cNvPr>
          <p:cNvSpPr txBox="1"/>
          <p:nvPr/>
        </p:nvSpPr>
        <p:spPr>
          <a:xfrm>
            <a:off x="5697415" y="3980534"/>
            <a:ext cx="62906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383288"/>
                </a:solidFill>
              </a:rPr>
              <a:t>Руководитель:</a:t>
            </a:r>
          </a:p>
          <a:p>
            <a:r>
              <a:rPr lang="ru-RU" sz="2400" dirty="0" smtClean="0"/>
              <a:t>Звонарев Иван Сергеевич</a:t>
            </a:r>
            <a:endParaRPr lang="ru-RU" sz="2400" dirty="0"/>
          </a:p>
          <a:p>
            <a:r>
              <a:rPr lang="ru-RU" sz="2400" b="1" dirty="0" smtClean="0">
                <a:solidFill>
                  <a:srgbClr val="383288"/>
                </a:solidFill>
              </a:rPr>
              <a:t>Состав </a:t>
            </a:r>
            <a:r>
              <a:rPr lang="ru-RU" sz="2400" b="1" dirty="0">
                <a:solidFill>
                  <a:srgbClr val="383288"/>
                </a:solidFill>
              </a:rPr>
              <a:t>команды:</a:t>
            </a:r>
          </a:p>
          <a:p>
            <a:r>
              <a:rPr lang="ru-RU" sz="2400" dirty="0" smtClean="0"/>
              <a:t>Вершинин Александр Михайлович</a:t>
            </a:r>
            <a:endParaRPr lang="ru-RU" sz="2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ED721782-467E-4148-A6F6-2CA8396DE7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3079" y="243007"/>
            <a:ext cx="2814825" cy="12786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5CDA1E0-A1E4-FE4E-A254-8DF024A16A3B}"/>
              </a:ext>
            </a:extLst>
          </p:cNvPr>
          <p:cNvSpPr txBox="1"/>
          <p:nvPr/>
        </p:nvSpPr>
        <p:spPr>
          <a:xfrm>
            <a:off x="4766185" y="6126166"/>
            <a:ext cx="2659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383288"/>
                </a:solidFill>
              </a:rPr>
              <a:t>Ижевск, </a:t>
            </a:r>
            <a:r>
              <a:rPr lang="ru-RU" sz="2400" b="1" dirty="0" smtClean="0">
                <a:solidFill>
                  <a:srgbClr val="383288"/>
                </a:solidFill>
              </a:rPr>
              <a:t>2026</a:t>
            </a:r>
            <a:endParaRPr lang="ru-RU" sz="2400" dirty="0">
              <a:solidFill>
                <a:srgbClr val="383288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E12412C0-E968-0E4D-A3B4-5E8D11BCAC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9711">
            <a:off x="962904" y="4615386"/>
            <a:ext cx="1849559" cy="184955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50E56C20-812A-E44B-9826-5187E0570C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3688">
            <a:off x="9874014" y="214387"/>
            <a:ext cx="1682532" cy="1682532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91114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63702" y="280897"/>
            <a:ext cx="10775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Аналитика проекта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1EF247B1-10AB-A440-87AF-16DE62F29925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C31ABD38-8C1F-B348-ABB6-7CDBD7C7B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122" y="1407270"/>
            <a:ext cx="16690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00D3AA"/>
                </a:solidFill>
                <a:effectLst/>
              </a:rPr>
              <a:t>ПРОБЛЕМА</a:t>
            </a:r>
            <a:endParaRPr kumimoji="0" lang="ru-RU" altLang="ru-RU" sz="12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="" xmlns:a16="http://schemas.microsoft.com/office/drawing/2014/main" id="{91AAE3D5-FD47-E24B-9C89-6B2CD5851ABE}"/>
              </a:ext>
            </a:extLst>
          </p:cNvPr>
          <p:cNvPicPr>
            <a:picLocks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49" y="1234565"/>
            <a:ext cx="673425" cy="673425"/>
          </a:xfrm>
          <a:prstGeom prst="rect">
            <a:avLst/>
          </a:prstGeom>
        </p:spPr>
      </p:pic>
      <p:sp>
        <p:nvSpPr>
          <p:cNvPr id="20" name="Rectangle 6">
            <a:extLst>
              <a:ext uri="{FF2B5EF4-FFF2-40B4-BE49-F238E27FC236}">
                <a16:creationId xmlns="" xmlns:a16="http://schemas.microsoft.com/office/drawing/2014/main" id="{4F66F9BF-3408-DE43-808F-59DE0EB8E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846" y="2509240"/>
            <a:ext cx="23070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АКТУАЛЬНОСТЬ</a:t>
            </a:r>
            <a:endParaRPr kumimoji="0" lang="ru-RU" altLang="ru-RU" sz="12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="" xmlns:a16="http://schemas.microsoft.com/office/drawing/2014/main" id="{930C3F53-C453-2E49-B2F6-908D079BD8B1}"/>
              </a:ext>
            </a:extLst>
          </p:cNvPr>
          <p:cNvPicPr>
            <a:picLocks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61" y="2215327"/>
            <a:ext cx="789211" cy="78921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="" xmlns:a16="http://schemas.microsoft.com/office/drawing/2014/main" id="{D992ABB6-7CF4-8543-90C9-D54106C1F300}"/>
              </a:ext>
            </a:extLst>
          </p:cNvPr>
          <p:cNvPicPr>
            <a:picLocks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44" y="3530293"/>
            <a:ext cx="781036" cy="781036"/>
          </a:xfrm>
          <a:prstGeom prst="rect">
            <a:avLst/>
          </a:prstGeom>
        </p:spPr>
      </p:pic>
      <p:sp>
        <p:nvSpPr>
          <p:cNvPr id="23" name="Rectangle 6">
            <a:extLst>
              <a:ext uri="{FF2B5EF4-FFF2-40B4-BE49-F238E27FC236}">
                <a16:creationId xmlns="" xmlns:a16="http://schemas.microsoft.com/office/drawing/2014/main" id="{AE19C1D5-3AFB-6148-ABDB-EF86909A9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982" y="3648554"/>
            <a:ext cx="26003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СУЩЕСТВУЮЩИЕ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РЕШЕНИЯ</a:t>
            </a:r>
            <a:endParaRPr kumimoji="0" lang="ru-RU" altLang="ru-RU" sz="12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="" xmlns:a16="http://schemas.microsoft.com/office/drawing/2014/main" id="{AC9BCEE2-CE60-5B4D-B871-8A69C6CE8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3060" y="2361330"/>
            <a:ext cx="705075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/>
              <a:t>В наше время все меньше народу интересуются темой цветов 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/>
              <a:t>в сферу развития технологий требуется множество различных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/>
              <a:t>п</a:t>
            </a:r>
            <a:r>
              <a:rPr lang="ru-RU" sz="1600" dirty="0" smtClean="0"/>
              <a:t>риложений для определения цветов, чтобы найти точную информацию о том, что ты хочешь.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="" xmlns:a16="http://schemas.microsoft.com/office/drawing/2014/main" id="{F4E024B2-AB61-4049-A8D3-86E3232D5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7195" y="3496844"/>
            <a:ext cx="573907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 smtClean="0"/>
              <a:t>- определение вида цветов с помощью </a:t>
            </a:r>
            <a:r>
              <a:rPr lang="en-US" sz="1600" dirty="0" err="1"/>
              <a:t>PlantAI</a:t>
            </a:r>
            <a:endParaRPr lang="ru-RU" sz="1600" dirty="0" smtClean="0"/>
          </a:p>
          <a:p>
            <a:r>
              <a:rPr lang="ru-RU" sz="1600" dirty="0" smtClean="0"/>
              <a:t>- составление букетов с помощью </a:t>
            </a:r>
            <a:r>
              <a:rPr lang="en-US" sz="1600" dirty="0"/>
              <a:t>Flower </a:t>
            </a:r>
            <a:r>
              <a:rPr lang="en-US" sz="1600" dirty="0" smtClean="0"/>
              <a:t>Architect</a:t>
            </a:r>
            <a:endParaRPr lang="ru-RU" sz="1600" dirty="0" smtClean="0"/>
          </a:p>
          <a:p>
            <a:r>
              <a:rPr lang="ru-RU" sz="1600" dirty="0" smtClean="0"/>
              <a:t>-</a:t>
            </a:r>
            <a:r>
              <a:rPr lang="ru-RU" b="1" dirty="0"/>
              <a:t> </a:t>
            </a:r>
            <a:r>
              <a:rPr lang="ru-RU" sz="1600" dirty="0"/>
              <a:t>о</a:t>
            </a:r>
            <a:r>
              <a:rPr lang="ru-RU" sz="1600" dirty="0" smtClean="0"/>
              <a:t>пределение вида цветов с помощью </a:t>
            </a:r>
            <a:r>
              <a:rPr lang="en-US" sz="1600" dirty="0"/>
              <a:t>Google Lens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A7ABE6C7-9A2B-C64F-B4C8-22F9A0C93831}"/>
              </a:ext>
            </a:extLst>
          </p:cNvPr>
          <p:cNvSpPr/>
          <p:nvPr/>
        </p:nvSpPr>
        <p:spPr>
          <a:xfrm>
            <a:off x="5017195" y="1402000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 smtClean="0"/>
              <a:t>Флористы или остальные люди часто ошибаются насчет видов цветов и возможных хорошо выглядящих букетов.</a:t>
            </a:r>
            <a:endParaRPr lang="ru-RU" sz="1600" dirty="0"/>
          </a:p>
        </p:txBody>
      </p:sp>
      <p:sp>
        <p:nvSpPr>
          <p:cNvPr id="27" name="Rectangle 6">
            <a:extLst>
              <a:ext uri="{FF2B5EF4-FFF2-40B4-BE49-F238E27FC236}">
                <a16:creationId xmlns="" xmlns:a16="http://schemas.microsoft.com/office/drawing/2014/main" id="{C4939319-F42C-894D-8867-8DDE9DC7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118" y="4715355"/>
            <a:ext cx="1882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ПРОРЫВНОЕ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dirty="0">
                <a:solidFill>
                  <a:srgbClr val="00D3AA"/>
                </a:solidFill>
              </a:rPr>
              <a:t>РЕШЕНИЕ</a:t>
            </a:r>
            <a:endParaRPr kumimoji="0" lang="ru-RU" altLang="ru-RU" sz="12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="" xmlns:a16="http://schemas.microsoft.com/office/drawing/2014/main" id="{9C8D3AB3-43B5-4E4B-B4DB-253C57A436BF}"/>
              </a:ext>
            </a:extLst>
          </p:cNvPr>
          <p:cNvPicPr>
            <a:picLocks/>
          </p:cNvPicPr>
          <p:nvPr/>
        </p:nvPicPr>
        <p:blipFill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86" y="4700394"/>
            <a:ext cx="739986" cy="739986"/>
          </a:xfrm>
          <a:prstGeom prst="rect">
            <a:avLst/>
          </a:prstGeom>
        </p:spPr>
      </p:pic>
      <p:sp>
        <p:nvSpPr>
          <p:cNvPr id="29" name="Rectangle 6">
            <a:extLst>
              <a:ext uri="{FF2B5EF4-FFF2-40B4-BE49-F238E27FC236}">
                <a16:creationId xmlns="" xmlns:a16="http://schemas.microsoft.com/office/drawing/2014/main" id="{0872EB2B-A03B-C240-B94E-5C9865083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8918" y="5031927"/>
            <a:ext cx="648505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/>
              <a:t>С</a:t>
            </a:r>
            <a:r>
              <a:rPr lang="ru-RU" sz="1600" dirty="0" smtClean="0"/>
              <a:t>оздать </a:t>
            </a:r>
            <a:r>
              <a:rPr lang="ru-RU" sz="1600" dirty="0"/>
              <a:t>систему, </a:t>
            </a:r>
            <a:r>
              <a:rPr lang="ru-RU" sz="1600" dirty="0" smtClean="0"/>
              <a:t>вмещающую в себя функционал тех программ, при этом в офлайн режиме.</a:t>
            </a:r>
            <a:endParaRPr lang="en-US" sz="1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57954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396784" y="133515"/>
            <a:ext cx="677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Описание проекта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0"/>
            <a:ext cx="216470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9801247" y="3574297"/>
            <a:ext cx="2635727" cy="3381380"/>
            <a:chOff x="9801247" y="3574297"/>
            <a:chExt cx="2635727" cy="3381380"/>
          </a:xfrm>
          <a:solidFill>
            <a:schemeClr val="accent6"/>
          </a:solidFill>
        </p:grpSpPr>
        <p:sp>
          <p:nvSpPr>
            <p:cNvPr id="16" name="Прямоугольный треугольник 15"/>
            <p:cNvSpPr/>
            <p:nvPr/>
          </p:nvSpPr>
          <p:spPr>
            <a:xfrm rot="13510417">
              <a:off x="10870854" y="4374358"/>
              <a:ext cx="932316" cy="93231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ый треугольник 36"/>
            <p:cNvSpPr/>
            <p:nvPr/>
          </p:nvSpPr>
          <p:spPr>
            <a:xfrm rot="16200000">
              <a:off x="10415717" y="5103353"/>
              <a:ext cx="1776283" cy="177628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ый треугольник 18"/>
            <p:cNvSpPr/>
            <p:nvPr/>
          </p:nvSpPr>
          <p:spPr>
            <a:xfrm rot="2713161">
              <a:off x="11945188" y="3829630"/>
              <a:ext cx="491786" cy="49178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ый треугольник 38"/>
            <p:cNvSpPr/>
            <p:nvPr/>
          </p:nvSpPr>
          <p:spPr>
            <a:xfrm rot="2713161">
              <a:off x="10148925" y="5593093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ый треугольник 39"/>
            <p:cNvSpPr/>
            <p:nvPr/>
          </p:nvSpPr>
          <p:spPr>
            <a:xfrm rot="10649316">
              <a:off x="10724440" y="5876251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ый треугольник 40"/>
            <p:cNvSpPr/>
            <p:nvPr/>
          </p:nvSpPr>
          <p:spPr>
            <a:xfrm rot="10800000">
              <a:off x="11381272" y="3574297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ый треугольник 41"/>
            <p:cNvSpPr/>
            <p:nvPr/>
          </p:nvSpPr>
          <p:spPr>
            <a:xfrm rot="5400000">
              <a:off x="10745530" y="5124987"/>
              <a:ext cx="331978" cy="33197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ый треугольник 42"/>
            <p:cNvSpPr/>
            <p:nvPr/>
          </p:nvSpPr>
          <p:spPr>
            <a:xfrm rot="8098597">
              <a:off x="9801247" y="6420386"/>
              <a:ext cx="535291" cy="535291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" name="Группа 2"/>
          <p:cNvGrpSpPr/>
          <p:nvPr/>
        </p:nvGrpSpPr>
        <p:grpSpPr>
          <a:xfrm rot="16200000">
            <a:off x="1573146" y="-207619"/>
            <a:ext cx="2253951" cy="2108727"/>
            <a:chOff x="1946747" y="-362880"/>
            <a:chExt cx="2253951" cy="2108727"/>
          </a:xfrm>
          <a:solidFill>
            <a:schemeClr val="accent6"/>
          </a:solidFill>
        </p:grpSpPr>
        <p:sp>
          <p:nvSpPr>
            <p:cNvPr id="15" name="Прямоугольный треугольник 14"/>
            <p:cNvSpPr/>
            <p:nvPr/>
          </p:nvSpPr>
          <p:spPr>
            <a:xfrm rot="5400000">
              <a:off x="2994908" y="1436783"/>
              <a:ext cx="309064" cy="30906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ый треугольник 16"/>
            <p:cNvSpPr/>
            <p:nvPr/>
          </p:nvSpPr>
          <p:spPr>
            <a:xfrm rot="10800000">
              <a:off x="1946747" y="927077"/>
              <a:ext cx="592037" cy="59203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ый треугольник 17"/>
            <p:cNvSpPr/>
            <p:nvPr/>
          </p:nvSpPr>
          <p:spPr>
            <a:xfrm rot="2698663">
              <a:off x="3640240" y="851726"/>
              <a:ext cx="560458" cy="56045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ый треугольник 19"/>
            <p:cNvSpPr/>
            <p:nvPr/>
          </p:nvSpPr>
          <p:spPr>
            <a:xfrm rot="18911141">
              <a:off x="2425390" y="-362880"/>
              <a:ext cx="1016437" cy="101643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055C50F3-5B04-2D47-9418-0E6DD0E19956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3FFC0352-520B-9044-83C9-5C25DF3DAF4F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83D30F53-D553-A544-8611-B7162950712F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="" xmlns:a16="http://schemas.microsoft.com/office/drawing/2014/main" id="{385EEE3D-3448-2244-8B8B-05B86C7396A3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Таблица 29">
            <a:extLst>
              <a:ext uri="{FF2B5EF4-FFF2-40B4-BE49-F238E27FC236}">
                <a16:creationId xmlns="" xmlns:a16="http://schemas.microsoft.com/office/drawing/2014/main" id="{21FA30A3-EFAA-9E4A-9FEC-8D28303E4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04322315"/>
              </p:ext>
            </p:extLst>
          </p:nvPr>
        </p:nvGraphicFramePr>
        <p:xfrm>
          <a:off x="593936" y="977640"/>
          <a:ext cx="10787336" cy="41958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943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44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4671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solidFill>
                            <a:srgbClr val="383288"/>
                          </a:solidFill>
                          <a:effectLst/>
                        </a:rPr>
                        <a:t>Цель проекта</a:t>
                      </a:r>
                      <a:endParaRPr lang="ru-RU" sz="1600" b="1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Выдача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информации о цветке и подходящие с ним букеты.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9969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solidFill>
                            <a:srgbClr val="383288"/>
                          </a:solidFill>
                          <a:effectLst/>
                        </a:rPr>
                        <a:t>Список задач</a:t>
                      </a:r>
                      <a:endParaRPr lang="ru-RU" sz="1600" b="1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fontAlgn="base">
                        <a:buFontTx/>
                        <a:buNone/>
                      </a:pPr>
                      <a:r>
                        <a:rPr lang="ru-RU" sz="1600" u="none" strike="noStrike" kern="1200" dirty="0" smtClean="0">
                          <a:effectLst/>
                        </a:rPr>
                        <a:t>-  Нахождение</a:t>
                      </a:r>
                      <a:r>
                        <a:rPr lang="ru-RU" sz="1600" u="none" strike="noStrike" kern="1200" baseline="0" dirty="0" smtClean="0">
                          <a:effectLst/>
                        </a:rPr>
                        <a:t> подходящих дата-сетов</a:t>
                      </a:r>
                      <a:endParaRPr lang="ru-RU" sz="1600" u="none" strike="noStrike" kern="1200" dirty="0" smtClean="0">
                        <a:effectLst/>
                      </a:endParaRPr>
                    </a:p>
                    <a:p>
                      <a:pPr marL="0" indent="0" rtl="0" fontAlgn="base">
                        <a:buFontTx/>
                        <a:buNone/>
                      </a:pPr>
                      <a:r>
                        <a:rPr lang="ru-RU" sz="1600" u="none" strike="noStrike" kern="1200" dirty="0" smtClean="0">
                          <a:effectLst/>
                        </a:rPr>
                        <a:t>-  Нахождение</a:t>
                      </a:r>
                      <a:r>
                        <a:rPr lang="ru-RU" sz="1600" u="none" strike="noStrike" kern="1200" baseline="0" dirty="0" smtClean="0">
                          <a:effectLst/>
                        </a:rPr>
                        <a:t> полезной информации</a:t>
                      </a:r>
                      <a:endParaRPr lang="ru-RU" sz="1600" u="none" strike="noStrike" kern="1200" dirty="0" smtClean="0">
                        <a:effectLst/>
                      </a:endParaRPr>
                    </a:p>
                    <a:p>
                      <a:pPr marL="0" indent="0" rtl="0" fontAlgn="base">
                        <a:buFontTx/>
                        <a:buNone/>
                      </a:pPr>
                      <a:r>
                        <a:rPr lang="ru-RU" sz="1600" u="none" strike="noStrike" kern="1200" dirty="0" smtClean="0">
                          <a:effectLst/>
                        </a:rPr>
                        <a:t>-  Создание</a:t>
                      </a:r>
                      <a:r>
                        <a:rPr lang="ru-RU" sz="1600" u="none" strike="noStrike" kern="1200" baseline="0" dirty="0" smtClean="0">
                          <a:effectLst/>
                        </a:rPr>
                        <a:t> основного приложения для работы программы</a:t>
                      </a:r>
                    </a:p>
                    <a:p>
                      <a:pPr marL="0" indent="0" rtl="0" fontAlgn="base">
                        <a:buFontTx/>
                        <a:buNone/>
                      </a:pPr>
                      <a:r>
                        <a:rPr lang="ru-RU" sz="1600" u="none" strike="noStrike" kern="1200" dirty="0" smtClean="0">
                          <a:effectLst/>
                        </a:rPr>
                        <a:t>-  Создание </a:t>
                      </a:r>
                      <a:r>
                        <a:rPr lang="ru-RU" sz="1600" u="none" strike="noStrike" kern="1200" dirty="0">
                          <a:effectLst/>
                        </a:rPr>
                        <a:t>пользовательского интерфейса</a:t>
                      </a:r>
                      <a:endParaRPr lang="ru-RU" sz="1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4968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solidFill>
                            <a:srgbClr val="383288"/>
                          </a:solidFill>
                          <a:effectLst/>
                        </a:rPr>
                        <a:t>Методы</a:t>
                      </a:r>
                      <a:endParaRPr lang="ru-RU" sz="1600" b="1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ru-RU" sz="1600" u="none" strike="noStrike" kern="1200" dirty="0" smtClean="0">
                          <a:effectLst/>
                        </a:rPr>
                        <a:t>-методы обработки</a:t>
                      </a:r>
                      <a:r>
                        <a:rPr lang="ru-RU" sz="1600" u="none" strike="noStrike" kern="1200" baseline="0" dirty="0" smtClean="0">
                          <a:effectLst/>
                        </a:rPr>
                        <a:t> изображений</a:t>
                      </a:r>
                    </a:p>
                    <a:p>
                      <a:pPr rtl="0" fontAlgn="base"/>
                      <a:r>
                        <a:rPr lang="ru-RU" sz="1600" u="none" strike="noStrike" kern="1200" baseline="0" dirty="0" smtClean="0">
                          <a:effectLst/>
                        </a:rPr>
                        <a:t>-методы нахождения информации на изображении</a:t>
                      </a:r>
                      <a:endParaRPr lang="ru-RU" sz="1600" u="none" strike="noStrike" kern="1200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9969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u="none" strike="noStrike" dirty="0">
                          <a:solidFill>
                            <a:srgbClr val="383288"/>
                          </a:solidFill>
                          <a:effectLst/>
                        </a:rPr>
                        <a:t>Программное обеспечение</a:t>
                      </a:r>
                      <a:endParaRPr lang="ru-RU" sz="1600" b="1" dirty="0">
                        <a:solidFill>
                          <a:srgbClr val="383288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u="none" strike="noStrike" kern="1200" dirty="0">
                          <a:effectLst/>
                        </a:rPr>
                        <a:t>Python </a:t>
                      </a:r>
                      <a:r>
                        <a:rPr lang="en-US" sz="1600" u="none" strike="noStrike" kern="1200" dirty="0" smtClean="0">
                          <a:effectLst/>
                        </a:rPr>
                        <a:t>3.</a:t>
                      </a:r>
                      <a:r>
                        <a:rPr lang="ru-RU" sz="1600" u="none" strike="noStrike" kern="1200" dirty="0" smtClean="0">
                          <a:effectLst/>
                        </a:rPr>
                        <a:t>12</a:t>
                      </a:r>
                    </a:p>
                    <a:p>
                      <a:pPr rtl="0"/>
                      <a:r>
                        <a:rPr lang="ru-RU" sz="1600" u="none" strike="noStrike" kern="1200" dirty="0" smtClean="0">
                          <a:effectLst/>
                        </a:rPr>
                        <a:t>библиотека </a:t>
                      </a:r>
                      <a:r>
                        <a:rPr lang="en-US" sz="1600" u="none" strike="noStrike" kern="1200" dirty="0">
                          <a:effectLst/>
                        </a:rPr>
                        <a:t>numpy </a:t>
                      </a:r>
                      <a:r>
                        <a:rPr lang="ru-RU" sz="1600" u="none" strike="noStrike" kern="1200" dirty="0">
                          <a:effectLst/>
                        </a:rPr>
                        <a:t>для матричных вычислений и реализации ряда математических </a:t>
                      </a:r>
                      <a:r>
                        <a:rPr lang="ru-RU" sz="1600" u="none" strike="noStrike" kern="1200" dirty="0" smtClean="0">
                          <a:effectLst/>
                        </a:rPr>
                        <a:t>функций</a:t>
                      </a:r>
                      <a:endParaRPr lang="ru-RU" sz="1600" u="none" strike="noStrike" kern="1200" dirty="0" smtClean="0">
                        <a:effectLst/>
                      </a:endParaRPr>
                    </a:p>
                    <a:p>
                      <a:pPr rtl="0"/>
                      <a:r>
                        <a:rPr lang="ru-RU" sz="1600" u="none" strike="noStrike" kern="1200" dirty="0" smtClean="0">
                          <a:effectLst/>
                        </a:rPr>
                        <a:t>библиотека</a:t>
                      </a:r>
                      <a:r>
                        <a:rPr lang="ru-RU" sz="1600" u="none" strike="noStrike" kern="1200" baseline="0" dirty="0" smtClean="0">
                          <a:effectLst/>
                        </a:rPr>
                        <a:t> </a:t>
                      </a:r>
                      <a:r>
                        <a:rPr lang="en-US" sz="1600" u="none" strike="noStrike" kern="1200" baseline="0" dirty="0" err="1" smtClean="0">
                          <a:effectLst/>
                        </a:rPr>
                        <a:t>ultralytics</a:t>
                      </a:r>
                      <a:r>
                        <a:rPr lang="ru-RU" sz="1600" u="none" strike="noStrike" kern="1200" baseline="0" dirty="0" smtClean="0">
                          <a:effectLst/>
                        </a:rPr>
                        <a:t> для работы с </a:t>
                      </a:r>
                      <a:r>
                        <a:rPr lang="en-US" sz="1600" u="none" strike="noStrike" kern="1200" baseline="0" dirty="0" smtClean="0">
                          <a:effectLst/>
                        </a:rPr>
                        <a:t>YOLO</a:t>
                      </a:r>
                      <a:endParaRPr lang="ru-RU" sz="1600" u="none" strike="noStrike" kern="1200" baseline="0" dirty="0" smtClean="0">
                        <a:effectLst/>
                      </a:endParaRPr>
                    </a:p>
                    <a:p>
                      <a:pPr rtl="0"/>
                      <a:r>
                        <a:rPr lang="ru-RU" sz="1600" u="none" strike="noStrike" kern="1200" dirty="0" smtClean="0">
                          <a:effectLst/>
                        </a:rPr>
                        <a:t>библиотека </a:t>
                      </a:r>
                      <a:r>
                        <a:rPr lang="en-US" sz="1600" u="none" strike="noStrike" kern="1200" dirty="0" smtClean="0">
                          <a:effectLst/>
                        </a:rPr>
                        <a:t>cv2</a:t>
                      </a:r>
                      <a:r>
                        <a:rPr lang="ru-RU" sz="1600" u="none" strike="noStrike" kern="1200" baseline="0" dirty="0" smtClean="0">
                          <a:effectLst/>
                        </a:rPr>
                        <a:t> для обработки изображений</a:t>
                      </a:r>
                      <a:endParaRPr lang="ru-RU" sz="1600" u="none" strike="noStrike" kern="1200" dirty="0">
                        <a:effectLst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6495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029200" y="280897"/>
            <a:ext cx="640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Архитектура проекта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02AD665B-FC6A-2049-8833-472019BBC822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C868C917-3AC2-834E-94D2-A4834B0E32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864" y="5215392"/>
            <a:ext cx="734253" cy="7342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2050" name="Picture 2" descr="C:\Users\admin\Documents\годовой проект АКАДЕМИЯ КАЛАШНИКОВА\2026-05-22-02580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8400" y="510139"/>
            <a:ext cx="2625732" cy="5626568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6977" y="1126240"/>
            <a:ext cx="6448842" cy="3877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65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67B0BB52-6BF2-5349-843D-9E752BF60BAE}"/>
              </a:ext>
            </a:extLst>
          </p:cNvPr>
          <p:cNvSpPr txBox="1"/>
          <p:nvPr/>
        </p:nvSpPr>
        <p:spPr>
          <a:xfrm>
            <a:off x="4773522" y="6080918"/>
            <a:ext cx="2042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Выбор методов</a:t>
            </a:r>
          </a:p>
          <a:p>
            <a:pPr algn="r"/>
            <a:endParaRPr lang="ru-RU" sz="1200" i="1" dirty="0">
              <a:solidFill>
                <a:srgbClr val="00B050"/>
              </a:solidFill>
            </a:endParaRPr>
          </a:p>
          <a:p>
            <a:pPr algn="ctr"/>
            <a:endParaRPr lang="ru-RU" sz="1200" dirty="0">
              <a:solidFill>
                <a:srgbClr val="FF0000"/>
              </a:solidFill>
            </a:endParaRPr>
          </a:p>
        </p:txBody>
      </p:sp>
      <p:graphicFrame>
        <p:nvGraphicFramePr>
          <p:cNvPr id="68" name="Таблица 67">
            <a:extLst>
              <a:ext uri="{FF2B5EF4-FFF2-40B4-BE49-F238E27FC236}">
                <a16:creationId xmlns="" xmlns:a16="http://schemas.microsoft.com/office/drawing/2014/main" id="{5DA6EA82-276A-CC43-9AE4-ED28F4E47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2962336"/>
              </p:ext>
            </p:extLst>
          </p:nvPr>
        </p:nvGraphicFramePr>
        <p:xfrm>
          <a:off x="4071265" y="1181458"/>
          <a:ext cx="1491239" cy="640080"/>
        </p:xfrm>
        <a:graphic>
          <a:graphicData uri="http://schemas.openxmlformats.org/drawingml/2006/table">
            <a:tbl>
              <a:tblPr/>
              <a:tblGrid>
                <a:gridCol w="1491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освоение принципов разметки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Таблица 58">
            <a:extLst>
              <a:ext uri="{FF2B5EF4-FFF2-40B4-BE49-F238E27FC236}">
                <a16:creationId xmlns="" xmlns:a16="http://schemas.microsoft.com/office/drawing/2014/main" id="{933B4228-B047-C044-A348-AF1E60AC4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46353861"/>
              </p:ext>
            </p:extLst>
          </p:nvPr>
        </p:nvGraphicFramePr>
        <p:xfrm>
          <a:off x="2723313" y="1028217"/>
          <a:ext cx="925721" cy="426720"/>
        </p:xfrm>
        <a:graphic>
          <a:graphicData uri="http://schemas.openxmlformats.org/drawingml/2006/table">
            <a:tbl>
              <a:tblPr/>
              <a:tblGrid>
                <a:gridCol w="92572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освоение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YOLO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" name="Таблица 135">
            <a:extLst>
              <a:ext uri="{FF2B5EF4-FFF2-40B4-BE49-F238E27FC236}">
                <a16:creationId xmlns="" xmlns:a16="http://schemas.microsoft.com/office/drawing/2014/main" id="{F5C7CF79-8B49-E94A-8C6F-F010AA0F3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39798931"/>
              </p:ext>
            </p:extLst>
          </p:nvPr>
        </p:nvGraphicFramePr>
        <p:xfrm>
          <a:off x="2429125" y="1916689"/>
          <a:ext cx="925721" cy="426720"/>
        </p:xfrm>
        <a:graphic>
          <a:graphicData uri="http://schemas.openxmlformats.org/drawingml/2006/table">
            <a:tbl>
              <a:tblPr/>
              <a:tblGrid>
                <a:gridCol w="92572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освоение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cv2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" name="Таблица 147">
            <a:extLst>
              <a:ext uri="{FF2B5EF4-FFF2-40B4-BE49-F238E27FC236}">
                <a16:creationId xmlns="" xmlns:a16="http://schemas.microsoft.com/office/drawing/2014/main" id="{196E79CA-AE20-D04F-A92E-067B487C8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83710919"/>
              </p:ext>
            </p:extLst>
          </p:nvPr>
        </p:nvGraphicFramePr>
        <p:xfrm>
          <a:off x="8756718" y="1199036"/>
          <a:ext cx="1730890" cy="640080"/>
        </p:xfrm>
        <a:graphic>
          <a:graphicData uri="http://schemas.openxmlformats.org/drawingml/2006/table">
            <a:tbl>
              <a:tblPr/>
              <a:tblGrid>
                <a:gridCol w="17308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как</a:t>
                      </a:r>
                      <a:r>
                        <a:rPr lang="ru-RU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эффективнее влиять на </a:t>
                      </a:r>
                      <a:r>
                        <a:rPr lang="ru-RU" sz="1400" b="0" i="0" u="none" strike="noStrike" baseline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детекцию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" name="Таблица 144">
            <a:extLst>
              <a:ext uri="{FF2B5EF4-FFF2-40B4-BE49-F238E27FC236}">
                <a16:creationId xmlns="" xmlns:a16="http://schemas.microsoft.com/office/drawing/2014/main" id="{34E7471F-8F90-9647-AFAB-A3538C76F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90952336"/>
              </p:ext>
            </p:extLst>
          </p:nvPr>
        </p:nvGraphicFramePr>
        <p:xfrm>
          <a:off x="5275365" y="1169538"/>
          <a:ext cx="1491239" cy="640080"/>
        </p:xfrm>
        <a:graphic>
          <a:graphicData uri="http://schemas.openxmlformats.org/drawingml/2006/table">
            <a:tbl>
              <a:tblPr/>
              <a:tblGrid>
                <a:gridCol w="1491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работа с задачами классификации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" name="Таблица 88">
            <a:extLst>
              <a:ext uri="{FF2B5EF4-FFF2-40B4-BE49-F238E27FC236}">
                <a16:creationId xmlns="" xmlns:a16="http://schemas.microsoft.com/office/drawing/2014/main" id="{A0E12F30-C9F2-E141-A9EF-5BBE290A4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05907652"/>
              </p:ext>
            </p:extLst>
          </p:nvPr>
        </p:nvGraphicFramePr>
        <p:xfrm>
          <a:off x="6774942" y="3477614"/>
          <a:ext cx="1240331" cy="213360"/>
        </p:xfrm>
        <a:graphic>
          <a:graphicData uri="http://schemas.openxmlformats.org/drawingml/2006/table">
            <a:tbl>
              <a:tblPr/>
              <a:tblGrid>
                <a:gridCol w="12403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метод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KNN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Прямоугольник 91">
            <a:extLst>
              <a:ext uri="{FF2B5EF4-FFF2-40B4-BE49-F238E27FC236}">
                <a16:creationId xmlns="" xmlns:a16="http://schemas.microsoft.com/office/drawing/2014/main" id="{FE0C2293-0A69-8440-9D4C-0CD7E2ACA01F}"/>
              </a:ext>
            </a:extLst>
          </p:cNvPr>
          <p:cNvSpPr/>
          <p:nvPr/>
        </p:nvSpPr>
        <p:spPr>
          <a:xfrm>
            <a:off x="5209580" y="4643398"/>
            <a:ext cx="167849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 smtClean="0">
                <a:solidFill>
                  <a:srgbClr val="000000"/>
                </a:solidFill>
              </a:rPr>
              <a:t>о</a:t>
            </a:r>
            <a:r>
              <a:rPr lang="ru-RU" sz="1400" dirty="0" smtClean="0">
                <a:solidFill>
                  <a:srgbClr val="000000"/>
                </a:solidFill>
              </a:rPr>
              <a:t>бучение нейронной модели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3702" y="280897"/>
            <a:ext cx="10775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 err="1">
                <a:solidFill>
                  <a:srgbClr val="383288"/>
                </a:solidFill>
              </a:rPr>
              <a:t>Таймлайн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A70E563F-D4E6-864B-A745-D1FF51441E28}"/>
              </a:ext>
            </a:extLst>
          </p:cNvPr>
          <p:cNvSpPr txBox="1"/>
          <p:nvPr/>
        </p:nvSpPr>
        <p:spPr>
          <a:xfrm rot="5400000">
            <a:off x="1221004" y="4793896"/>
            <a:ext cx="430887" cy="158890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ru-RU" sz="1600" b="1" dirty="0">
                <a:solidFill>
                  <a:srgbClr val="383288"/>
                </a:solidFill>
              </a:rPr>
              <a:t>Реализация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203B9FF-C8A5-3C48-8C49-6677F0126F98}"/>
              </a:ext>
            </a:extLst>
          </p:cNvPr>
          <p:cNvSpPr txBox="1"/>
          <p:nvPr/>
        </p:nvSpPr>
        <p:spPr>
          <a:xfrm rot="5400000">
            <a:off x="1557830" y="3514892"/>
            <a:ext cx="430887" cy="9178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ru-RU" sz="1600" b="1" dirty="0">
                <a:solidFill>
                  <a:srgbClr val="383288"/>
                </a:solidFill>
              </a:rPr>
              <a:t>Метод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23A6062E-BE9A-3C47-BD2D-A6EACECB7D0A}"/>
              </a:ext>
            </a:extLst>
          </p:cNvPr>
          <p:cNvSpPr txBox="1"/>
          <p:nvPr/>
        </p:nvSpPr>
        <p:spPr>
          <a:xfrm rot="5400000">
            <a:off x="1442661" y="1846222"/>
            <a:ext cx="430887" cy="110501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ru-RU" sz="1600" b="1" dirty="0">
                <a:solidFill>
                  <a:srgbClr val="383288"/>
                </a:solidFill>
              </a:rPr>
              <a:t>Знание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0BB092CB-C259-5044-9D34-8237DB16BE77}"/>
              </a:ext>
            </a:extLst>
          </p:cNvPr>
          <p:cNvSpPr txBox="1"/>
          <p:nvPr/>
        </p:nvSpPr>
        <p:spPr>
          <a:xfrm>
            <a:off x="2497377" y="6071966"/>
            <a:ext cx="1336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Сбор данных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</p:txBody>
      </p:sp>
      <p:grpSp>
        <p:nvGrpSpPr>
          <p:cNvPr id="153" name="Группа 152">
            <a:extLst>
              <a:ext uri="{FF2B5EF4-FFF2-40B4-BE49-F238E27FC236}">
                <a16:creationId xmlns="" xmlns:a16="http://schemas.microsoft.com/office/drawing/2014/main" id="{B272F2A3-8A6F-A245-BFC3-B85695D89611}"/>
              </a:ext>
            </a:extLst>
          </p:cNvPr>
          <p:cNvGrpSpPr/>
          <p:nvPr/>
        </p:nvGrpSpPr>
        <p:grpSpPr>
          <a:xfrm>
            <a:off x="906018" y="1513379"/>
            <a:ext cx="10345608" cy="4445417"/>
            <a:chOff x="201168" y="1513379"/>
            <a:chExt cx="10345608" cy="4445417"/>
          </a:xfrm>
        </p:grpSpPr>
        <p:cxnSp>
          <p:nvCxnSpPr>
            <p:cNvPr id="17" name="Прямая соединительная линия 16">
              <a:extLst>
                <a:ext uri="{FF2B5EF4-FFF2-40B4-BE49-F238E27FC236}">
                  <a16:creationId xmlns="" xmlns:a16="http://schemas.microsoft.com/office/drawing/2014/main" id="{37E496FD-8DEB-D34D-944B-D033CB620DF4}"/>
                </a:ext>
              </a:extLst>
            </p:cNvPr>
            <p:cNvCxnSpPr/>
            <p:nvPr/>
          </p:nvCxnSpPr>
          <p:spPr>
            <a:xfrm>
              <a:off x="514228" y="4596787"/>
              <a:ext cx="9962250" cy="0"/>
            </a:xfrm>
            <a:prstGeom prst="line">
              <a:avLst/>
            </a:prstGeom>
            <a:ln>
              <a:solidFill>
                <a:srgbClr val="1EDDC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="" xmlns:a16="http://schemas.microsoft.com/office/drawing/2014/main" id="{0BB8BADF-2C16-9A45-958C-4BBEB54AFA7D}"/>
                </a:ext>
              </a:extLst>
            </p:cNvPr>
            <p:cNvCxnSpPr/>
            <p:nvPr/>
          </p:nvCxnSpPr>
          <p:spPr>
            <a:xfrm>
              <a:off x="514228" y="2692008"/>
              <a:ext cx="10032548" cy="0"/>
            </a:xfrm>
            <a:prstGeom prst="line">
              <a:avLst/>
            </a:prstGeom>
            <a:ln>
              <a:solidFill>
                <a:srgbClr val="1EDDC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>
              <a:extLst>
                <a:ext uri="{FF2B5EF4-FFF2-40B4-BE49-F238E27FC236}">
                  <a16:creationId xmlns="" xmlns:a16="http://schemas.microsoft.com/office/drawing/2014/main" id="{D3D49898-89F4-F847-B5F1-72B482A237FB}"/>
                </a:ext>
              </a:extLst>
            </p:cNvPr>
            <p:cNvCxnSpPr/>
            <p:nvPr/>
          </p:nvCxnSpPr>
          <p:spPr>
            <a:xfrm>
              <a:off x="201168" y="5958796"/>
              <a:ext cx="10345608" cy="0"/>
            </a:xfrm>
            <a:prstGeom prst="straightConnector1">
              <a:avLst/>
            </a:prstGeom>
            <a:ln w="57150" cap="rnd">
              <a:solidFill>
                <a:srgbClr val="1EDDC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="" xmlns:a16="http://schemas.microsoft.com/office/drawing/2014/main" id="{055E97B1-9E7A-3D49-AE36-BF060A5E6F76}"/>
                </a:ext>
              </a:extLst>
            </p:cNvPr>
            <p:cNvCxnSpPr/>
            <p:nvPr/>
          </p:nvCxnSpPr>
          <p:spPr>
            <a:xfrm>
              <a:off x="1424541" y="1513379"/>
              <a:ext cx="0" cy="681596"/>
            </a:xfrm>
            <a:prstGeom prst="line">
              <a:avLst/>
            </a:prstGeom>
            <a:ln w="57150">
              <a:solidFill>
                <a:srgbClr val="1EDD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="" xmlns:a16="http://schemas.microsoft.com/office/drawing/2014/main" id="{E7BBF393-6645-1A4E-8456-89F570283FE8}"/>
                </a:ext>
              </a:extLst>
            </p:cNvPr>
            <p:cNvCxnSpPr/>
            <p:nvPr/>
          </p:nvCxnSpPr>
          <p:spPr>
            <a:xfrm>
              <a:off x="1424541" y="3374287"/>
              <a:ext cx="0" cy="458365"/>
            </a:xfrm>
            <a:prstGeom prst="line">
              <a:avLst/>
            </a:prstGeom>
            <a:ln w="57150">
              <a:solidFill>
                <a:srgbClr val="1EDD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94">
              <a:extLst>
                <a:ext uri="{FF2B5EF4-FFF2-40B4-BE49-F238E27FC236}">
                  <a16:creationId xmlns="" xmlns:a16="http://schemas.microsoft.com/office/drawing/2014/main" id="{D7ADCF93-577B-1A4C-B022-4640EAE27087}"/>
                </a:ext>
              </a:extLst>
            </p:cNvPr>
            <p:cNvCxnSpPr/>
            <p:nvPr/>
          </p:nvCxnSpPr>
          <p:spPr>
            <a:xfrm>
              <a:off x="1424541" y="5019044"/>
              <a:ext cx="0" cy="353278"/>
            </a:xfrm>
            <a:prstGeom prst="line">
              <a:avLst/>
            </a:prstGeom>
            <a:ln w="57150">
              <a:solidFill>
                <a:srgbClr val="1EDD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Прямая со стрелкой 89">
            <a:extLst>
              <a:ext uri="{FF2B5EF4-FFF2-40B4-BE49-F238E27FC236}">
                <a16:creationId xmlns="" xmlns:a16="http://schemas.microsoft.com/office/drawing/2014/main" id="{669044B8-C419-B543-9609-E676646F0314}"/>
              </a:ext>
            </a:extLst>
          </p:cNvPr>
          <p:cNvCxnSpPr/>
          <p:nvPr/>
        </p:nvCxnSpPr>
        <p:spPr>
          <a:xfrm>
            <a:off x="5271257" y="3459270"/>
            <a:ext cx="1134000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89">
            <a:extLst>
              <a:ext uri="{FF2B5EF4-FFF2-40B4-BE49-F238E27FC236}">
                <a16:creationId xmlns="" xmlns:a16="http://schemas.microsoft.com/office/drawing/2014/main" id="{99E810B5-8999-F242-A77A-9243CB87EB85}"/>
              </a:ext>
            </a:extLst>
          </p:cNvPr>
          <p:cNvCxnSpPr/>
          <p:nvPr/>
        </p:nvCxnSpPr>
        <p:spPr>
          <a:xfrm>
            <a:off x="2401351" y="2575825"/>
            <a:ext cx="1274545" cy="1588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DEB51DCE-55CF-A44D-A947-3026D30CD0BB}"/>
              </a:ext>
            </a:extLst>
          </p:cNvPr>
          <p:cNvSpPr txBox="1"/>
          <p:nvPr/>
        </p:nvSpPr>
        <p:spPr>
          <a:xfrm>
            <a:off x="6082031" y="6068156"/>
            <a:ext cx="2615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Результаты</a:t>
            </a:r>
          </a:p>
          <a:p>
            <a:pPr algn="r"/>
            <a:r>
              <a:rPr lang="ru-RU" sz="1200" i="1" dirty="0" smtClean="0">
                <a:solidFill>
                  <a:srgbClr val="00B050"/>
                </a:solidFill>
              </a:rPr>
              <a:t>22.05.26</a:t>
            </a:r>
            <a:endParaRPr lang="ru-RU" sz="1200" i="1" dirty="0">
              <a:solidFill>
                <a:srgbClr val="00B050"/>
              </a:solidFill>
            </a:endParaRPr>
          </a:p>
          <a:p>
            <a:pPr algn="ctr"/>
            <a:endParaRPr lang="ru-RU" sz="1200" dirty="0">
              <a:solidFill>
                <a:srgbClr val="FF0000"/>
              </a:solidFill>
            </a:endParaRPr>
          </a:p>
        </p:txBody>
      </p:sp>
      <p:cxnSp>
        <p:nvCxnSpPr>
          <p:cNvPr id="48" name="Прямая со стрелкой 89">
            <a:extLst>
              <a:ext uri="{FF2B5EF4-FFF2-40B4-BE49-F238E27FC236}">
                <a16:creationId xmlns="" xmlns:a16="http://schemas.microsoft.com/office/drawing/2014/main" id="{4170B23A-D02D-6F42-ADCE-CD4BAAF2369D}"/>
              </a:ext>
            </a:extLst>
          </p:cNvPr>
          <p:cNvCxnSpPr/>
          <p:nvPr/>
        </p:nvCxnSpPr>
        <p:spPr>
          <a:xfrm flipV="1">
            <a:off x="3922959" y="4484632"/>
            <a:ext cx="1217641" cy="1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9AE2FB43-8432-E14B-A7B8-8203E6FD3228}"/>
              </a:ext>
            </a:extLst>
          </p:cNvPr>
          <p:cNvSpPr txBox="1"/>
          <p:nvPr/>
        </p:nvSpPr>
        <p:spPr>
          <a:xfrm>
            <a:off x="3342466" y="6067645"/>
            <a:ext cx="1915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Выбор модели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  <a:p>
            <a:pPr algn="ctr"/>
            <a:endParaRPr lang="ru-RU" sz="1200" dirty="0">
              <a:solidFill>
                <a:srgbClr val="FF0000"/>
              </a:solidFill>
            </a:endParaRPr>
          </a:p>
        </p:txBody>
      </p:sp>
      <p:cxnSp>
        <p:nvCxnSpPr>
          <p:cNvPr id="58" name="Прямая со стрелкой 89">
            <a:extLst>
              <a:ext uri="{FF2B5EF4-FFF2-40B4-BE49-F238E27FC236}">
                <a16:creationId xmlns="" xmlns:a16="http://schemas.microsoft.com/office/drawing/2014/main" id="{E753387B-EB6F-0C49-AA1C-755A7023AD4F}"/>
              </a:ext>
            </a:extLst>
          </p:cNvPr>
          <p:cNvCxnSpPr/>
          <p:nvPr/>
        </p:nvCxnSpPr>
        <p:spPr>
          <a:xfrm flipV="1">
            <a:off x="2753045" y="1683098"/>
            <a:ext cx="964783" cy="336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="" xmlns:a16="http://schemas.microsoft.com/office/drawing/2014/main" id="{36C5D21F-8228-BF4C-BB53-31B46CB64619}"/>
              </a:ext>
            </a:extLst>
          </p:cNvPr>
          <p:cNvCxnSpPr>
            <a:cxnSpLocks/>
          </p:cNvCxnSpPr>
          <p:nvPr/>
        </p:nvCxnSpPr>
        <p:spPr>
          <a:xfrm flipV="1">
            <a:off x="4090594" y="1871708"/>
            <a:ext cx="1053836" cy="7906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89">
            <a:extLst>
              <a:ext uri="{FF2B5EF4-FFF2-40B4-BE49-F238E27FC236}">
                <a16:creationId xmlns="" xmlns:a16="http://schemas.microsoft.com/office/drawing/2014/main" id="{B713DF8E-757E-C649-8194-DC4B62A70A97}"/>
              </a:ext>
            </a:extLst>
          </p:cNvPr>
          <p:cNvCxnSpPr/>
          <p:nvPr/>
        </p:nvCxnSpPr>
        <p:spPr>
          <a:xfrm flipV="1">
            <a:off x="8787355" y="1886534"/>
            <a:ext cx="1086386" cy="33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89">
            <a:extLst>
              <a:ext uri="{FF2B5EF4-FFF2-40B4-BE49-F238E27FC236}">
                <a16:creationId xmlns="" xmlns:a16="http://schemas.microsoft.com/office/drawing/2014/main" id="{A83F6607-1E03-3B44-912F-3CC857123098}"/>
              </a:ext>
            </a:extLst>
          </p:cNvPr>
          <p:cNvCxnSpPr/>
          <p:nvPr/>
        </p:nvCxnSpPr>
        <p:spPr>
          <a:xfrm>
            <a:off x="3936782" y="3371142"/>
            <a:ext cx="937861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89">
            <a:extLst>
              <a:ext uri="{FF2B5EF4-FFF2-40B4-BE49-F238E27FC236}">
                <a16:creationId xmlns="" xmlns:a16="http://schemas.microsoft.com/office/drawing/2014/main" id="{8FA31BAE-B815-D04A-B0BA-3B6148FED517}"/>
              </a:ext>
            </a:extLst>
          </p:cNvPr>
          <p:cNvCxnSpPr/>
          <p:nvPr/>
        </p:nvCxnSpPr>
        <p:spPr>
          <a:xfrm>
            <a:off x="3932026" y="5594131"/>
            <a:ext cx="1175870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Прямоугольник 72">
            <a:extLst>
              <a:ext uri="{FF2B5EF4-FFF2-40B4-BE49-F238E27FC236}">
                <a16:creationId xmlns="" xmlns:a16="http://schemas.microsoft.com/office/drawing/2014/main" id="{0587DF12-2550-0B4B-98BC-16B91CD88FF5}"/>
              </a:ext>
            </a:extLst>
          </p:cNvPr>
          <p:cNvSpPr/>
          <p:nvPr/>
        </p:nvSpPr>
        <p:spPr>
          <a:xfrm>
            <a:off x="3810065" y="4673372"/>
            <a:ext cx="15383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 err="1" smtClean="0">
                <a:solidFill>
                  <a:srgbClr val="000000"/>
                </a:solidFill>
              </a:rPr>
              <a:t>д</a:t>
            </a:r>
            <a:r>
              <a:rPr lang="ru-RU" sz="1400" dirty="0" err="1" smtClean="0">
                <a:solidFill>
                  <a:srgbClr val="000000"/>
                </a:solidFill>
              </a:rPr>
              <a:t>атасет</a:t>
            </a:r>
            <a:r>
              <a:rPr lang="ru-RU" sz="1400" dirty="0" smtClean="0">
                <a:solidFill>
                  <a:srgbClr val="000000"/>
                </a:solidFill>
              </a:rPr>
              <a:t> «цветы»</a:t>
            </a:r>
            <a:endParaRPr lang="en-US" sz="1400" dirty="0">
              <a:solidFill>
                <a:srgbClr val="000000"/>
              </a:solidFill>
            </a:endParaRPr>
          </a:p>
        </p:txBody>
      </p:sp>
      <p:graphicFrame>
        <p:nvGraphicFramePr>
          <p:cNvPr id="75" name="Таблица 74">
            <a:extLst>
              <a:ext uri="{FF2B5EF4-FFF2-40B4-BE49-F238E27FC236}">
                <a16:creationId xmlns="" xmlns:a16="http://schemas.microsoft.com/office/drawing/2014/main" id="{1311EDA6-37B2-4947-9E8A-B904B7D8A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87976252"/>
              </p:ext>
            </p:extLst>
          </p:nvPr>
        </p:nvGraphicFramePr>
        <p:xfrm>
          <a:off x="3966424" y="3573850"/>
          <a:ext cx="1124785" cy="853440"/>
        </p:xfrm>
        <a:graphic>
          <a:graphicData uri="http://schemas.openxmlformats.org/drawingml/2006/table">
            <a:tbl>
              <a:tblPr/>
              <a:tblGrid>
                <a:gridCol w="11247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разработка методики </a:t>
                      </a:r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обработки</a:t>
                      </a:r>
                      <a:r>
                        <a:rPr lang="ru-RU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данных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" name="Прямая со стрелкой 75">
            <a:extLst>
              <a:ext uri="{FF2B5EF4-FFF2-40B4-BE49-F238E27FC236}">
                <a16:creationId xmlns="" xmlns:a16="http://schemas.microsoft.com/office/drawing/2014/main" id="{A6A4282E-BBEF-434A-BFDD-F7456C949DC5}"/>
              </a:ext>
            </a:extLst>
          </p:cNvPr>
          <p:cNvCxnSpPr/>
          <p:nvPr/>
        </p:nvCxnSpPr>
        <p:spPr>
          <a:xfrm>
            <a:off x="6895037" y="1861306"/>
            <a:ext cx="1651461" cy="1588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9">
            <a:extLst>
              <a:ext uri="{FF2B5EF4-FFF2-40B4-BE49-F238E27FC236}">
                <a16:creationId xmlns="" xmlns:a16="http://schemas.microsoft.com/office/drawing/2014/main" id="{E575058D-1EFE-7E49-940D-A12B24E851F8}"/>
              </a:ext>
            </a:extLst>
          </p:cNvPr>
          <p:cNvCxnSpPr/>
          <p:nvPr/>
        </p:nvCxnSpPr>
        <p:spPr>
          <a:xfrm>
            <a:off x="7232349" y="4495184"/>
            <a:ext cx="1311787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>
            <a:extLst>
              <a:ext uri="{FF2B5EF4-FFF2-40B4-BE49-F238E27FC236}">
                <a16:creationId xmlns="" xmlns:a16="http://schemas.microsoft.com/office/drawing/2014/main" id="{F2BD711C-90E4-9C45-A391-CCD68B2B2A95}"/>
              </a:ext>
            </a:extLst>
          </p:cNvPr>
          <p:cNvCxnSpPr/>
          <p:nvPr/>
        </p:nvCxnSpPr>
        <p:spPr>
          <a:xfrm>
            <a:off x="5339731" y="5753148"/>
            <a:ext cx="1149355" cy="2309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89">
            <a:extLst>
              <a:ext uri="{FF2B5EF4-FFF2-40B4-BE49-F238E27FC236}">
                <a16:creationId xmlns="" xmlns:a16="http://schemas.microsoft.com/office/drawing/2014/main" id="{4154A426-4AC1-744C-8E15-7D7DC1AB42CD}"/>
              </a:ext>
            </a:extLst>
          </p:cNvPr>
          <p:cNvCxnSpPr>
            <a:cxnSpLocks/>
          </p:cNvCxnSpPr>
          <p:nvPr/>
        </p:nvCxnSpPr>
        <p:spPr>
          <a:xfrm>
            <a:off x="6833326" y="5317863"/>
            <a:ext cx="1411795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Прямоугольник 102">
            <a:extLst>
              <a:ext uri="{FF2B5EF4-FFF2-40B4-BE49-F238E27FC236}">
                <a16:creationId xmlns="" xmlns:a16="http://schemas.microsoft.com/office/drawing/2014/main" id="{0A0364DC-A63F-114A-9B3E-891852E12CDB}"/>
              </a:ext>
            </a:extLst>
          </p:cNvPr>
          <p:cNvSpPr/>
          <p:nvPr/>
        </p:nvSpPr>
        <p:spPr>
          <a:xfrm>
            <a:off x="6737076" y="4735533"/>
            <a:ext cx="16784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>
                <a:solidFill>
                  <a:srgbClr val="000000"/>
                </a:solidFill>
              </a:rPr>
              <a:t>реализация метода </a:t>
            </a:r>
            <a:r>
              <a:rPr lang="en-US" sz="1400" dirty="0" smtClean="0">
                <a:solidFill>
                  <a:srgbClr val="000000"/>
                </a:solidFill>
              </a:rPr>
              <a:t>KNN</a:t>
            </a:r>
            <a:endParaRPr lang="en-US" sz="1400" dirty="0">
              <a:solidFill>
                <a:srgbClr val="000000"/>
              </a:solidFill>
            </a:endParaRPr>
          </a:p>
        </p:txBody>
      </p:sp>
      <p:graphicFrame>
        <p:nvGraphicFramePr>
          <p:cNvPr id="107" name="Таблица 106">
            <a:extLst>
              <a:ext uri="{FF2B5EF4-FFF2-40B4-BE49-F238E27FC236}">
                <a16:creationId xmlns="" xmlns:a16="http://schemas.microsoft.com/office/drawing/2014/main" id="{7DF85AF0-7506-A649-A6A8-2EE6EF119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23263151"/>
              </p:ext>
            </p:extLst>
          </p:nvPr>
        </p:nvGraphicFramePr>
        <p:xfrm>
          <a:off x="8775827" y="3466595"/>
          <a:ext cx="1777095" cy="640080"/>
        </p:xfrm>
        <a:graphic>
          <a:graphicData uri="http://schemas.openxmlformats.org/drawingml/2006/table">
            <a:tbl>
              <a:tblPr/>
              <a:tblGrid>
                <a:gridCol w="17770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Разбиение</a:t>
                      </a:r>
                      <a:r>
                        <a:rPr lang="ru-RU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ru-RU" sz="1400" b="0" i="0" u="none" strike="noStrike" baseline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датасета</a:t>
                      </a:r>
                      <a:r>
                        <a:rPr lang="ru-RU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на подгруппы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8" name="Прямая со стрелкой 89">
            <a:extLst>
              <a:ext uri="{FF2B5EF4-FFF2-40B4-BE49-F238E27FC236}">
                <a16:creationId xmlns="" xmlns:a16="http://schemas.microsoft.com/office/drawing/2014/main" id="{645A0718-A413-2246-AD80-CF5F450A9FCA}"/>
              </a:ext>
            </a:extLst>
          </p:cNvPr>
          <p:cNvCxnSpPr/>
          <p:nvPr/>
        </p:nvCxnSpPr>
        <p:spPr>
          <a:xfrm>
            <a:off x="8768276" y="4109563"/>
            <a:ext cx="1658177" cy="1588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89">
            <a:extLst>
              <a:ext uri="{FF2B5EF4-FFF2-40B4-BE49-F238E27FC236}">
                <a16:creationId xmlns="" xmlns:a16="http://schemas.microsoft.com/office/drawing/2014/main" id="{7C2D5493-7815-8742-9FDC-15641F49911F}"/>
              </a:ext>
            </a:extLst>
          </p:cNvPr>
          <p:cNvCxnSpPr/>
          <p:nvPr/>
        </p:nvCxnSpPr>
        <p:spPr>
          <a:xfrm>
            <a:off x="8716201" y="5534577"/>
            <a:ext cx="1334044" cy="18333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Прямоугольник 109">
            <a:extLst>
              <a:ext uri="{FF2B5EF4-FFF2-40B4-BE49-F238E27FC236}">
                <a16:creationId xmlns="" xmlns:a16="http://schemas.microsoft.com/office/drawing/2014/main" id="{B50E3B70-21AE-594F-83C6-64964B59F5C3}"/>
              </a:ext>
            </a:extLst>
          </p:cNvPr>
          <p:cNvSpPr/>
          <p:nvPr/>
        </p:nvSpPr>
        <p:spPr>
          <a:xfrm>
            <a:off x="8601290" y="4640623"/>
            <a:ext cx="20169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>
                <a:solidFill>
                  <a:srgbClr val="000000"/>
                </a:solidFill>
              </a:rPr>
              <a:t>визуализация </a:t>
            </a:r>
            <a:r>
              <a:rPr lang="ru-RU" sz="1400" dirty="0" smtClean="0">
                <a:solidFill>
                  <a:srgbClr val="000000"/>
                </a:solidFill>
              </a:rPr>
              <a:t>результатов </a:t>
            </a:r>
            <a:r>
              <a:rPr lang="ru-RU" sz="1400" dirty="0" err="1" smtClean="0">
                <a:solidFill>
                  <a:srgbClr val="000000"/>
                </a:solidFill>
              </a:rPr>
              <a:t>детекции</a:t>
            </a:r>
            <a:r>
              <a:rPr lang="ru-RU" sz="1400" dirty="0" smtClean="0">
                <a:solidFill>
                  <a:srgbClr val="000000"/>
                </a:solidFill>
              </a:rPr>
              <a:t> модели на изображениях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12" name="Прямая со стрелкой 89">
            <a:extLst>
              <a:ext uri="{FF2B5EF4-FFF2-40B4-BE49-F238E27FC236}">
                <a16:creationId xmlns="" xmlns:a16="http://schemas.microsoft.com/office/drawing/2014/main" id="{695AF590-7289-954E-8FF1-8779041C3B9F}"/>
              </a:ext>
            </a:extLst>
          </p:cNvPr>
          <p:cNvCxnSpPr/>
          <p:nvPr/>
        </p:nvCxnSpPr>
        <p:spPr>
          <a:xfrm>
            <a:off x="8768276" y="3428292"/>
            <a:ext cx="1658177" cy="1588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>
            <a:extLst>
              <a:ext uri="{FF2B5EF4-FFF2-40B4-BE49-F238E27FC236}">
                <a16:creationId xmlns="" xmlns:a16="http://schemas.microsoft.com/office/drawing/2014/main" id="{FC6C2B4F-4586-BF46-A77E-6F52CF0AFA35}"/>
              </a:ext>
            </a:extLst>
          </p:cNvPr>
          <p:cNvCxnSpPr>
            <a:cxnSpLocks/>
          </p:cNvCxnSpPr>
          <p:nvPr/>
        </p:nvCxnSpPr>
        <p:spPr>
          <a:xfrm flipV="1">
            <a:off x="5312570" y="1871519"/>
            <a:ext cx="1405845" cy="4165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="" xmlns:a16="http://schemas.microsoft.com/office/drawing/2014/main" id="{1B57C53D-EF98-4840-B0A5-9A66E5C25999}"/>
              </a:ext>
            </a:extLst>
          </p:cNvPr>
          <p:cNvSpPr txBox="1"/>
          <p:nvPr/>
        </p:nvSpPr>
        <p:spPr>
          <a:xfrm>
            <a:off x="8863612" y="6067645"/>
            <a:ext cx="170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Защита проекта</a:t>
            </a:r>
          </a:p>
          <a:p>
            <a:pPr algn="r"/>
            <a:r>
              <a:rPr lang="ru-RU" sz="1200" i="1" dirty="0" smtClean="0">
                <a:solidFill>
                  <a:srgbClr val="00B050"/>
                </a:solidFill>
              </a:rPr>
              <a:t>26.05.26</a:t>
            </a:r>
            <a:endParaRPr lang="ru-RU" sz="1200" i="1" dirty="0">
              <a:solidFill>
                <a:srgbClr val="00B050"/>
              </a:solidFill>
            </a:endParaRPr>
          </a:p>
          <a:p>
            <a:pPr algn="ctr"/>
            <a:endParaRPr lang="ru-RU" sz="1200" dirty="0">
              <a:solidFill>
                <a:srgbClr val="FF0000"/>
              </a:solidFill>
            </a:endParaRPr>
          </a:p>
        </p:txBody>
      </p:sp>
      <p:graphicFrame>
        <p:nvGraphicFramePr>
          <p:cNvPr id="126" name="Таблица 125">
            <a:extLst>
              <a:ext uri="{FF2B5EF4-FFF2-40B4-BE49-F238E27FC236}">
                <a16:creationId xmlns="" xmlns:a16="http://schemas.microsoft.com/office/drawing/2014/main" id="{79A7CA7B-5B8B-A24D-9F6A-45B81AAB7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17916212"/>
              </p:ext>
            </p:extLst>
          </p:nvPr>
        </p:nvGraphicFramePr>
        <p:xfrm>
          <a:off x="3867383" y="1924387"/>
          <a:ext cx="1160089" cy="640080"/>
        </p:xfrm>
        <a:graphic>
          <a:graphicData uri="http://schemas.openxmlformats.org/drawingml/2006/table">
            <a:tbl>
              <a:tblPr/>
              <a:tblGrid>
                <a:gridCol w="11600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изучение </a:t>
                      </a:r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поведения</a:t>
                      </a:r>
                      <a:r>
                        <a:rPr lang="ru-RU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моделей</a:t>
                      </a:r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7" name="Прямая со стрелкой 89">
            <a:extLst>
              <a:ext uri="{FF2B5EF4-FFF2-40B4-BE49-F238E27FC236}">
                <a16:creationId xmlns="" xmlns:a16="http://schemas.microsoft.com/office/drawing/2014/main" id="{03FCD9AB-C1F4-A944-935A-47FC3AB60BFF}"/>
              </a:ext>
            </a:extLst>
          </p:cNvPr>
          <p:cNvCxnSpPr>
            <a:cxnSpLocks/>
          </p:cNvCxnSpPr>
          <p:nvPr/>
        </p:nvCxnSpPr>
        <p:spPr>
          <a:xfrm>
            <a:off x="3882873" y="2598781"/>
            <a:ext cx="852559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5">
            <a:extLst>
              <a:ext uri="{FF2B5EF4-FFF2-40B4-BE49-F238E27FC236}">
                <a16:creationId xmlns="" xmlns:a16="http://schemas.microsoft.com/office/drawing/2014/main" id="{6450806F-7DA2-EA4B-B571-FD4CFE019D2C}"/>
              </a:ext>
            </a:extLst>
          </p:cNvPr>
          <p:cNvGrpSpPr/>
          <p:nvPr/>
        </p:nvGrpSpPr>
        <p:grpSpPr>
          <a:xfrm>
            <a:off x="3297378" y="1056164"/>
            <a:ext cx="905030" cy="5316693"/>
            <a:chOff x="-2443535" y="1100186"/>
            <a:chExt cx="905030" cy="5827163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="" xmlns:a16="http://schemas.microsoft.com/office/drawing/2014/main" id="{BE98A7FB-07AB-DE45-B3BA-C15AEF310302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61">
              <a:extLst>
                <a:ext uri="{FF2B5EF4-FFF2-40B4-BE49-F238E27FC236}">
                  <a16:creationId xmlns="" xmlns:a16="http://schemas.microsoft.com/office/drawing/2014/main" id="{3A2BE4EE-2AA6-F74F-AF40-CDDD07D2D01D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Овал 62">
              <a:extLst>
                <a:ext uri="{FF2B5EF4-FFF2-40B4-BE49-F238E27FC236}">
                  <a16:creationId xmlns="" xmlns:a16="http://schemas.microsoft.com/office/drawing/2014/main" id="{9D1F849A-E3BE-4448-AD18-2ADD0B30DDBD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1" name="Прямая соединительная линия 63">
              <a:extLst>
                <a:ext uri="{FF2B5EF4-FFF2-40B4-BE49-F238E27FC236}">
                  <a16:creationId xmlns="" xmlns:a16="http://schemas.microsoft.com/office/drawing/2014/main" id="{02998F3F-3D3B-8748-A173-31DBA133744C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Прямая соединительная линия 73">
              <a:extLst>
                <a:ext uri="{FF2B5EF4-FFF2-40B4-BE49-F238E27FC236}">
                  <a16:creationId xmlns="" xmlns:a16="http://schemas.microsoft.com/office/drawing/2014/main" id="{CBEA78DE-3F7D-BF4F-86AB-F38E3948E056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0" name="Group 98">
            <a:extLst>
              <a:ext uri="{FF2B5EF4-FFF2-40B4-BE49-F238E27FC236}">
                <a16:creationId xmlns="" xmlns:a16="http://schemas.microsoft.com/office/drawing/2014/main" id="{5A91F80D-247E-524C-B937-D8AC87792510}"/>
              </a:ext>
            </a:extLst>
          </p:cNvPr>
          <p:cNvGrpSpPr/>
          <p:nvPr/>
        </p:nvGrpSpPr>
        <p:grpSpPr>
          <a:xfrm>
            <a:off x="8175725" y="1056165"/>
            <a:ext cx="905030" cy="5314726"/>
            <a:chOff x="-2443535" y="1100186"/>
            <a:chExt cx="905030" cy="5827163"/>
          </a:xfrm>
        </p:grpSpPr>
        <p:sp>
          <p:nvSpPr>
            <p:cNvPr id="41" name="Прямоугольник 96">
              <a:extLst>
                <a:ext uri="{FF2B5EF4-FFF2-40B4-BE49-F238E27FC236}">
                  <a16:creationId xmlns="" xmlns:a16="http://schemas.microsoft.com/office/drawing/2014/main" id="{5CB6144A-FDBF-4842-A4F7-B4E967BC9D97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Овал 61">
              <a:extLst>
                <a:ext uri="{FF2B5EF4-FFF2-40B4-BE49-F238E27FC236}">
                  <a16:creationId xmlns="" xmlns:a16="http://schemas.microsoft.com/office/drawing/2014/main" id="{CC3F1A61-FF41-594F-847F-E0D54060F7AA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Овал 62">
              <a:extLst>
                <a:ext uri="{FF2B5EF4-FFF2-40B4-BE49-F238E27FC236}">
                  <a16:creationId xmlns="" xmlns:a16="http://schemas.microsoft.com/office/drawing/2014/main" id="{102A8408-EC73-2B49-9680-59D2B6E598A0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4" name="Прямая соединительная линия 63">
              <a:extLst>
                <a:ext uri="{FF2B5EF4-FFF2-40B4-BE49-F238E27FC236}">
                  <a16:creationId xmlns="" xmlns:a16="http://schemas.microsoft.com/office/drawing/2014/main" id="{31D9BA8B-EB16-574E-AA8F-D4EA5690375C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Прямая соединительная линия 73">
              <a:extLst>
                <a:ext uri="{FF2B5EF4-FFF2-40B4-BE49-F238E27FC236}">
                  <a16:creationId xmlns="" xmlns:a16="http://schemas.microsoft.com/office/drawing/2014/main" id="{16CA7E5D-C76D-1749-9D1C-D02D1574ACA4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9" name="Group 143">
            <a:extLst>
              <a:ext uri="{FF2B5EF4-FFF2-40B4-BE49-F238E27FC236}">
                <a16:creationId xmlns="" xmlns:a16="http://schemas.microsoft.com/office/drawing/2014/main" id="{CBF26E5D-4580-2C4B-A740-C2DE64E985CC}"/>
              </a:ext>
            </a:extLst>
          </p:cNvPr>
          <p:cNvGrpSpPr/>
          <p:nvPr/>
        </p:nvGrpSpPr>
        <p:grpSpPr>
          <a:xfrm>
            <a:off x="6299106" y="1055999"/>
            <a:ext cx="905030" cy="5314891"/>
            <a:chOff x="-2443535" y="1100186"/>
            <a:chExt cx="905030" cy="5827163"/>
          </a:xfrm>
        </p:grpSpPr>
        <p:sp>
          <p:nvSpPr>
            <p:cNvPr id="50" name="Прямоугольник 96">
              <a:extLst>
                <a:ext uri="{FF2B5EF4-FFF2-40B4-BE49-F238E27FC236}">
                  <a16:creationId xmlns="" xmlns:a16="http://schemas.microsoft.com/office/drawing/2014/main" id="{17438094-7D9C-694B-9470-16EB9A48E5F5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Овал 61">
              <a:extLst>
                <a:ext uri="{FF2B5EF4-FFF2-40B4-BE49-F238E27FC236}">
                  <a16:creationId xmlns="" xmlns:a16="http://schemas.microsoft.com/office/drawing/2014/main" id="{6A846024-9560-E74A-AFA8-28C510755EE3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Овал 62">
              <a:extLst>
                <a:ext uri="{FF2B5EF4-FFF2-40B4-BE49-F238E27FC236}">
                  <a16:creationId xmlns="" xmlns:a16="http://schemas.microsoft.com/office/drawing/2014/main" id="{23B413E8-6AC4-6549-BAD8-8F34D5C40C97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53" name="Прямая соединительная линия 63">
              <a:extLst>
                <a:ext uri="{FF2B5EF4-FFF2-40B4-BE49-F238E27FC236}">
                  <a16:creationId xmlns="" xmlns:a16="http://schemas.microsoft.com/office/drawing/2014/main" id="{11922A41-9BCB-4243-90E8-08455CBE808A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" name="Прямая соединительная линия 73">
              <a:extLst>
                <a:ext uri="{FF2B5EF4-FFF2-40B4-BE49-F238E27FC236}">
                  <a16:creationId xmlns="" xmlns:a16="http://schemas.microsoft.com/office/drawing/2014/main" id="{DEBF1F38-603D-1949-AB6B-58FDA2EF6985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1" name="Group 143">
            <a:extLst>
              <a:ext uri="{FF2B5EF4-FFF2-40B4-BE49-F238E27FC236}">
                <a16:creationId xmlns="" xmlns:a16="http://schemas.microsoft.com/office/drawing/2014/main" id="{EF58764E-BDCA-404A-814E-87EC165DB042}"/>
              </a:ext>
            </a:extLst>
          </p:cNvPr>
          <p:cNvGrpSpPr/>
          <p:nvPr/>
        </p:nvGrpSpPr>
        <p:grpSpPr>
          <a:xfrm>
            <a:off x="4735432" y="1048832"/>
            <a:ext cx="905030" cy="5324025"/>
            <a:chOff x="-2443535" y="1100186"/>
            <a:chExt cx="905030" cy="5827163"/>
          </a:xfrm>
        </p:grpSpPr>
        <p:sp>
          <p:nvSpPr>
            <p:cNvPr id="82" name="Прямоугольник 96">
              <a:extLst>
                <a:ext uri="{FF2B5EF4-FFF2-40B4-BE49-F238E27FC236}">
                  <a16:creationId xmlns="" xmlns:a16="http://schemas.microsoft.com/office/drawing/2014/main" id="{8491D3A9-20C9-FF40-A766-130DC82BD782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Овал 61">
              <a:extLst>
                <a:ext uri="{FF2B5EF4-FFF2-40B4-BE49-F238E27FC236}">
                  <a16:creationId xmlns="" xmlns:a16="http://schemas.microsoft.com/office/drawing/2014/main" id="{344DE5E4-C699-834E-85EA-4995E958475B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Овал 62">
              <a:extLst>
                <a:ext uri="{FF2B5EF4-FFF2-40B4-BE49-F238E27FC236}">
                  <a16:creationId xmlns="" xmlns:a16="http://schemas.microsoft.com/office/drawing/2014/main" id="{5194DA7D-4F58-024C-89A3-FBE9414D6AF5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85" name="Прямая соединительная линия 63">
              <a:extLst>
                <a:ext uri="{FF2B5EF4-FFF2-40B4-BE49-F238E27FC236}">
                  <a16:creationId xmlns="" xmlns:a16="http://schemas.microsoft.com/office/drawing/2014/main" id="{49ACC1B1-52BD-3A45-8B2E-F24E9E4261F0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Прямая соединительная линия 73">
              <a:extLst>
                <a:ext uri="{FF2B5EF4-FFF2-40B4-BE49-F238E27FC236}">
                  <a16:creationId xmlns="" xmlns:a16="http://schemas.microsoft.com/office/drawing/2014/main" id="{32447651-F9B4-0545-B127-3C5D5D556AA3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19" name="Group 98">
            <a:extLst>
              <a:ext uri="{FF2B5EF4-FFF2-40B4-BE49-F238E27FC236}">
                <a16:creationId xmlns="" xmlns:a16="http://schemas.microsoft.com/office/drawing/2014/main" id="{7B1C1028-31BC-0E47-A416-A5365A2F81CC}"/>
              </a:ext>
            </a:extLst>
          </p:cNvPr>
          <p:cNvGrpSpPr/>
          <p:nvPr/>
        </p:nvGrpSpPr>
        <p:grpSpPr>
          <a:xfrm>
            <a:off x="10050245" y="1056165"/>
            <a:ext cx="905030" cy="5325336"/>
            <a:chOff x="-2443535" y="1100186"/>
            <a:chExt cx="905030" cy="5827163"/>
          </a:xfrm>
        </p:grpSpPr>
        <p:sp>
          <p:nvSpPr>
            <p:cNvPr id="120" name="Прямоугольник 96">
              <a:extLst>
                <a:ext uri="{FF2B5EF4-FFF2-40B4-BE49-F238E27FC236}">
                  <a16:creationId xmlns="" xmlns:a16="http://schemas.microsoft.com/office/drawing/2014/main" id="{C0DD4837-B631-AF47-AD13-868C629D37D8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Овал 61">
              <a:extLst>
                <a:ext uri="{FF2B5EF4-FFF2-40B4-BE49-F238E27FC236}">
                  <a16:creationId xmlns="" xmlns:a16="http://schemas.microsoft.com/office/drawing/2014/main" id="{1B2DAE1F-B5FF-A14B-8917-28D9B06596B0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Овал 62">
              <a:extLst>
                <a:ext uri="{FF2B5EF4-FFF2-40B4-BE49-F238E27FC236}">
                  <a16:creationId xmlns="" xmlns:a16="http://schemas.microsoft.com/office/drawing/2014/main" id="{AF7F62D8-DFE9-6740-9FD8-CD6E5CD30873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3" name="Прямая соединительная линия 63">
              <a:extLst>
                <a:ext uri="{FF2B5EF4-FFF2-40B4-BE49-F238E27FC236}">
                  <a16:creationId xmlns="" xmlns:a16="http://schemas.microsoft.com/office/drawing/2014/main" id="{C7913BAF-4C34-7A43-A27D-7A8EC2FFF602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Прямая соединительная линия 73">
              <a:extLst>
                <a:ext uri="{FF2B5EF4-FFF2-40B4-BE49-F238E27FC236}">
                  <a16:creationId xmlns="" xmlns:a16="http://schemas.microsoft.com/office/drawing/2014/main" id="{60245351-94BE-9B4E-B6A4-8111D2DCCD4D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8" name="Group 5">
            <a:extLst>
              <a:ext uri="{FF2B5EF4-FFF2-40B4-BE49-F238E27FC236}">
                <a16:creationId xmlns="" xmlns:a16="http://schemas.microsoft.com/office/drawing/2014/main" id="{9821D453-DC35-D646-9686-CC3833EFE5B1}"/>
              </a:ext>
            </a:extLst>
          </p:cNvPr>
          <p:cNvGrpSpPr/>
          <p:nvPr/>
        </p:nvGrpSpPr>
        <p:grpSpPr>
          <a:xfrm>
            <a:off x="1757259" y="1067885"/>
            <a:ext cx="905030" cy="5316693"/>
            <a:chOff x="-2443535" y="1100186"/>
            <a:chExt cx="905030" cy="5827163"/>
          </a:xfrm>
        </p:grpSpPr>
        <p:sp>
          <p:nvSpPr>
            <p:cNvPr id="129" name="Прямоугольник 128">
              <a:extLst>
                <a:ext uri="{FF2B5EF4-FFF2-40B4-BE49-F238E27FC236}">
                  <a16:creationId xmlns="" xmlns:a16="http://schemas.microsoft.com/office/drawing/2014/main" id="{DBEC8A82-E432-3444-8530-C92974E13423}"/>
                </a:ext>
              </a:extLst>
            </p:cNvPr>
            <p:cNvSpPr/>
            <p:nvPr/>
          </p:nvSpPr>
          <p:spPr>
            <a:xfrm flipH="1">
              <a:off x="-2034537" y="1100186"/>
              <a:ext cx="87032" cy="87032"/>
            </a:xfrm>
            <a:prstGeom prst="rect">
              <a:avLst/>
            </a:prstGeom>
            <a:noFill/>
            <a:ln w="3175"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Овал 61">
              <a:extLst>
                <a:ext uri="{FF2B5EF4-FFF2-40B4-BE49-F238E27FC236}">
                  <a16:creationId xmlns="" xmlns:a16="http://schemas.microsoft.com/office/drawing/2014/main" id="{2774353A-DAB5-EB44-AE69-6F90DE4845EA}"/>
                </a:ext>
              </a:extLst>
            </p:cNvPr>
            <p:cNvSpPr/>
            <p:nvPr/>
          </p:nvSpPr>
          <p:spPr>
            <a:xfrm>
              <a:off x="-2103242" y="6358472"/>
              <a:ext cx="224443" cy="23275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EDD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Овал 62">
              <a:extLst>
                <a:ext uri="{FF2B5EF4-FFF2-40B4-BE49-F238E27FC236}">
                  <a16:creationId xmlns="" xmlns:a16="http://schemas.microsoft.com/office/drawing/2014/main" id="{CBF70566-BDB2-D347-953A-F65C23A86A25}"/>
                </a:ext>
              </a:extLst>
            </p:cNvPr>
            <p:cNvSpPr/>
            <p:nvPr/>
          </p:nvSpPr>
          <p:spPr>
            <a:xfrm>
              <a:off x="-2158388" y="6307479"/>
              <a:ext cx="334736" cy="334734"/>
            </a:xfrm>
            <a:prstGeom prst="ellips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32" name="Прямая соединительная линия 63">
              <a:extLst>
                <a:ext uri="{FF2B5EF4-FFF2-40B4-BE49-F238E27FC236}">
                  <a16:creationId xmlns="" xmlns:a16="http://schemas.microsoft.com/office/drawing/2014/main" id="{0E30F1C5-E5B3-2643-B04E-A490777BF4AD}"/>
                </a:ext>
              </a:extLst>
            </p:cNvPr>
            <p:cNvCxnSpPr/>
            <p:nvPr/>
          </p:nvCxnSpPr>
          <p:spPr>
            <a:xfrm rot="16200000" flipV="1">
              <a:off x="-1991020" y="6022331"/>
              <a:ext cx="0" cy="905030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Прямая соединительная линия 73">
              <a:extLst>
                <a:ext uri="{FF2B5EF4-FFF2-40B4-BE49-F238E27FC236}">
                  <a16:creationId xmlns="" xmlns:a16="http://schemas.microsoft.com/office/drawing/2014/main" id="{2276BD48-02B1-994D-983B-BB36D20BA178}"/>
                </a:ext>
              </a:extLst>
            </p:cNvPr>
            <p:cNvCxnSpPr/>
            <p:nvPr/>
          </p:nvCxnSpPr>
          <p:spPr>
            <a:xfrm flipV="1">
              <a:off x="-1991020" y="1179042"/>
              <a:ext cx="0" cy="5748307"/>
            </a:xfrm>
            <a:prstGeom prst="line">
              <a:avLst/>
            </a:prstGeom>
            <a:noFill/>
            <a:ln w="3175">
              <a:solidFill>
                <a:srgbClr val="1EDDC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3600D397-DDFA-494E-9F20-88E7BF29D948}"/>
              </a:ext>
            </a:extLst>
          </p:cNvPr>
          <p:cNvSpPr txBox="1"/>
          <p:nvPr/>
        </p:nvSpPr>
        <p:spPr>
          <a:xfrm>
            <a:off x="546745" y="6064877"/>
            <a:ext cx="173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b="1" dirty="0">
                <a:solidFill>
                  <a:srgbClr val="383288"/>
                </a:solidFill>
              </a:rPr>
              <a:t>Начало</a:t>
            </a:r>
          </a:p>
          <a:p>
            <a:pPr algn="r"/>
            <a:r>
              <a:rPr lang="ru-RU" sz="1200" i="1" dirty="0">
                <a:solidFill>
                  <a:srgbClr val="00B050"/>
                </a:solidFill>
              </a:rPr>
              <a:t>дата</a:t>
            </a:r>
          </a:p>
        </p:txBody>
      </p:sp>
      <p:sp>
        <p:nvSpPr>
          <p:cNvPr id="137" name="Прямоугольник 136">
            <a:extLst>
              <a:ext uri="{FF2B5EF4-FFF2-40B4-BE49-F238E27FC236}">
                <a16:creationId xmlns="" xmlns:a16="http://schemas.microsoft.com/office/drawing/2014/main" id="{602E6B72-B4AC-C04C-A63C-52681133DABF}"/>
              </a:ext>
            </a:extLst>
          </p:cNvPr>
          <p:cNvSpPr/>
          <p:nvPr/>
        </p:nvSpPr>
        <p:spPr>
          <a:xfrm>
            <a:off x="6870815" y="5265508"/>
            <a:ext cx="16784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 smtClean="0">
                <a:solidFill>
                  <a:srgbClr val="000000"/>
                </a:solidFill>
              </a:rPr>
              <a:t>реализация </a:t>
            </a:r>
            <a:r>
              <a:rPr lang="ru-RU" sz="1400" dirty="0" smtClean="0">
                <a:solidFill>
                  <a:srgbClr val="000000"/>
                </a:solidFill>
              </a:rPr>
              <a:t>модели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38" name="Прямая со стрелкой 137">
            <a:extLst>
              <a:ext uri="{FF2B5EF4-FFF2-40B4-BE49-F238E27FC236}">
                <a16:creationId xmlns="" xmlns:a16="http://schemas.microsoft.com/office/drawing/2014/main" id="{30CBDA6E-2816-1F4F-B522-62FC3A4FC939}"/>
              </a:ext>
            </a:extLst>
          </p:cNvPr>
          <p:cNvCxnSpPr>
            <a:cxnSpLocks/>
          </p:cNvCxnSpPr>
          <p:nvPr/>
        </p:nvCxnSpPr>
        <p:spPr>
          <a:xfrm>
            <a:off x="6989236" y="5784375"/>
            <a:ext cx="1587022" cy="8802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89">
            <a:extLst>
              <a:ext uri="{FF2B5EF4-FFF2-40B4-BE49-F238E27FC236}">
                <a16:creationId xmlns="" xmlns:a16="http://schemas.microsoft.com/office/drawing/2014/main" id="{58C433E6-609E-7D41-BFD0-F3453FEEF5C6}"/>
              </a:ext>
            </a:extLst>
          </p:cNvPr>
          <p:cNvCxnSpPr/>
          <p:nvPr/>
        </p:nvCxnSpPr>
        <p:spPr>
          <a:xfrm>
            <a:off x="6795136" y="3808073"/>
            <a:ext cx="991301" cy="0"/>
          </a:xfrm>
          <a:prstGeom prst="straightConnector1">
            <a:avLst/>
          </a:prstGeom>
          <a:ln w="28575" cap="rnd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1" name="Таблица 140">
            <a:extLst>
              <a:ext uri="{FF2B5EF4-FFF2-40B4-BE49-F238E27FC236}">
                <a16:creationId xmlns="" xmlns:a16="http://schemas.microsoft.com/office/drawing/2014/main" id="{3C6C9CEC-5622-E040-AB4F-E2B641664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14560701"/>
              </p:ext>
            </p:extLst>
          </p:nvPr>
        </p:nvGraphicFramePr>
        <p:xfrm>
          <a:off x="8805347" y="2732719"/>
          <a:ext cx="1617656" cy="640080"/>
        </p:xfrm>
        <a:graphic>
          <a:graphicData uri="http://schemas.openxmlformats.org/drawingml/2006/table">
            <a:tbl>
              <a:tblPr/>
              <a:tblGrid>
                <a:gridCol w="16176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60986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методика</a:t>
                      </a:r>
                      <a:r>
                        <a:rPr lang="ru-RU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применения фильтров</a:t>
                      </a:r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2" name="Таблица 141">
            <a:extLst>
              <a:ext uri="{FF2B5EF4-FFF2-40B4-BE49-F238E27FC236}">
                <a16:creationId xmlns="" xmlns:a16="http://schemas.microsoft.com/office/drawing/2014/main" id="{8BC6A99F-7767-D643-A663-8ECEC1D1F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30136144"/>
              </p:ext>
            </p:extLst>
          </p:nvPr>
        </p:nvGraphicFramePr>
        <p:xfrm>
          <a:off x="7225729" y="4034640"/>
          <a:ext cx="1395757" cy="426720"/>
        </p:xfrm>
        <a:graphic>
          <a:graphicData uri="http://schemas.openxmlformats.org/drawingml/2006/table">
            <a:tbl>
              <a:tblPr/>
              <a:tblGrid>
                <a:gridCol w="13957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логистическая</a:t>
                      </a:r>
                      <a:r>
                        <a:rPr lang="ru-RU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регрессия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" name="Таблица 142">
            <a:extLst>
              <a:ext uri="{FF2B5EF4-FFF2-40B4-BE49-F238E27FC236}">
                <a16:creationId xmlns="" xmlns:a16="http://schemas.microsoft.com/office/drawing/2014/main" id="{8AF17772-42FE-E946-A117-15F775C1B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85247959"/>
              </p:ext>
            </p:extLst>
          </p:nvPr>
        </p:nvGraphicFramePr>
        <p:xfrm>
          <a:off x="3937518" y="2540834"/>
          <a:ext cx="1311723" cy="734212"/>
        </p:xfrm>
        <a:graphic>
          <a:graphicData uri="http://schemas.openxmlformats.org/drawingml/2006/table">
            <a:tbl>
              <a:tblPr/>
              <a:tblGrid>
                <a:gridCol w="13117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734212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методика извлечения </a:t>
                      </a:r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информации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4" name="Прямоугольник 143">
            <a:extLst>
              <a:ext uri="{FF2B5EF4-FFF2-40B4-BE49-F238E27FC236}">
                <a16:creationId xmlns="" xmlns:a16="http://schemas.microsoft.com/office/drawing/2014/main" id="{2DBDA88B-7F79-294B-BF52-B97F3E8CC9DB}"/>
              </a:ext>
            </a:extLst>
          </p:cNvPr>
          <p:cNvSpPr/>
          <p:nvPr/>
        </p:nvSpPr>
        <p:spPr>
          <a:xfrm>
            <a:off x="5223104" y="2732527"/>
            <a:ext cx="16186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ru-RU" sz="1400" dirty="0">
                <a:solidFill>
                  <a:srgbClr val="000000"/>
                </a:solidFill>
              </a:rPr>
              <a:t>методика </a:t>
            </a:r>
            <a:r>
              <a:rPr lang="ru-RU" sz="1400" dirty="0" smtClean="0">
                <a:solidFill>
                  <a:srgbClr val="000000"/>
                </a:solidFill>
              </a:rPr>
              <a:t>предобработки </a:t>
            </a:r>
            <a:r>
              <a:rPr lang="ru-RU" sz="1400" dirty="0">
                <a:solidFill>
                  <a:srgbClr val="000000"/>
                </a:solidFill>
              </a:rPr>
              <a:t>данных</a:t>
            </a:r>
          </a:p>
        </p:txBody>
      </p:sp>
      <p:graphicFrame>
        <p:nvGraphicFramePr>
          <p:cNvPr id="147" name="Таблица 146">
            <a:extLst>
              <a:ext uri="{FF2B5EF4-FFF2-40B4-BE49-F238E27FC236}">
                <a16:creationId xmlns="" xmlns:a16="http://schemas.microsoft.com/office/drawing/2014/main" id="{90372B40-815A-D045-8207-0801AECE9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029326460"/>
              </p:ext>
            </p:extLst>
          </p:nvPr>
        </p:nvGraphicFramePr>
        <p:xfrm>
          <a:off x="6869978" y="1193054"/>
          <a:ext cx="1491239" cy="640080"/>
        </p:xfrm>
        <a:graphic>
          <a:graphicData uri="http://schemas.openxmlformats.org/drawingml/2006/table">
            <a:tbl>
              <a:tblPr/>
              <a:tblGrid>
                <a:gridCol w="1491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изучение методов классификации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5" name="Рисунок 154">
            <a:extLst>
              <a:ext uri="{FF2B5EF4-FFF2-40B4-BE49-F238E27FC236}">
                <a16:creationId xmlns="" xmlns:a16="http://schemas.microsoft.com/office/drawing/2014/main" id="{AEA43591-E403-5D47-9394-16BB8DC4A3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019" y="1515220"/>
            <a:ext cx="761293" cy="761293"/>
          </a:xfrm>
          <a:prstGeom prst="rect">
            <a:avLst/>
          </a:prstGeom>
        </p:spPr>
      </p:pic>
      <p:pic>
        <p:nvPicPr>
          <p:cNvPr id="156" name="Рисунок 155">
            <a:extLst>
              <a:ext uri="{FF2B5EF4-FFF2-40B4-BE49-F238E27FC236}">
                <a16:creationId xmlns="" xmlns:a16="http://schemas.microsoft.com/office/drawing/2014/main" id="{DC2E4748-00A0-E749-AFC1-B394833F6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874" y="3154977"/>
            <a:ext cx="700932" cy="700932"/>
          </a:xfrm>
          <a:prstGeom prst="rect">
            <a:avLst/>
          </a:prstGeom>
        </p:spPr>
      </p:pic>
      <p:pic>
        <p:nvPicPr>
          <p:cNvPr id="157" name="Рисунок 156">
            <a:extLst>
              <a:ext uri="{FF2B5EF4-FFF2-40B4-BE49-F238E27FC236}">
                <a16:creationId xmlns="" xmlns:a16="http://schemas.microsoft.com/office/drawing/2014/main" id="{F57C7E35-B31F-D649-9D74-10DC08B768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863" y="4661536"/>
            <a:ext cx="778684" cy="778684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2113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053884" y="133515"/>
            <a:ext cx="677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Рабочая концепция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19250"/>
            <a:ext cx="216470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9801247" y="3574297"/>
            <a:ext cx="2635727" cy="3381380"/>
            <a:chOff x="9801247" y="3574297"/>
            <a:chExt cx="2635727" cy="3381380"/>
          </a:xfrm>
          <a:solidFill>
            <a:schemeClr val="accent6"/>
          </a:solidFill>
        </p:grpSpPr>
        <p:sp>
          <p:nvSpPr>
            <p:cNvPr id="16" name="Прямоугольный треугольник 15"/>
            <p:cNvSpPr/>
            <p:nvPr/>
          </p:nvSpPr>
          <p:spPr>
            <a:xfrm rot="13510417">
              <a:off x="10870854" y="4374358"/>
              <a:ext cx="932316" cy="93231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ый треугольник 36"/>
            <p:cNvSpPr/>
            <p:nvPr/>
          </p:nvSpPr>
          <p:spPr>
            <a:xfrm rot="16200000">
              <a:off x="10415717" y="5103353"/>
              <a:ext cx="1776283" cy="1776283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ый треугольник 18"/>
            <p:cNvSpPr/>
            <p:nvPr/>
          </p:nvSpPr>
          <p:spPr>
            <a:xfrm rot="2713161">
              <a:off x="11945188" y="3829630"/>
              <a:ext cx="491786" cy="491786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ый треугольник 38"/>
            <p:cNvSpPr/>
            <p:nvPr/>
          </p:nvSpPr>
          <p:spPr>
            <a:xfrm rot="2713161">
              <a:off x="10148925" y="5593093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ый треугольник 39"/>
            <p:cNvSpPr/>
            <p:nvPr/>
          </p:nvSpPr>
          <p:spPr>
            <a:xfrm rot="10649316">
              <a:off x="10724440" y="5876251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ый треугольник 40"/>
            <p:cNvSpPr/>
            <p:nvPr/>
          </p:nvSpPr>
          <p:spPr>
            <a:xfrm rot="10800000">
              <a:off x="11381272" y="3574297"/>
              <a:ext cx="230485" cy="23048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ый треугольник 41"/>
            <p:cNvSpPr/>
            <p:nvPr/>
          </p:nvSpPr>
          <p:spPr>
            <a:xfrm rot="5400000">
              <a:off x="10745530" y="5124987"/>
              <a:ext cx="331978" cy="33197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ый треугольник 42"/>
            <p:cNvSpPr/>
            <p:nvPr/>
          </p:nvSpPr>
          <p:spPr>
            <a:xfrm rot="8098597">
              <a:off x="9801247" y="6420386"/>
              <a:ext cx="535291" cy="535291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" name="Группа 2"/>
          <p:cNvGrpSpPr/>
          <p:nvPr/>
        </p:nvGrpSpPr>
        <p:grpSpPr>
          <a:xfrm rot="16200000">
            <a:off x="1573146" y="-207619"/>
            <a:ext cx="2253951" cy="2108727"/>
            <a:chOff x="1946747" y="-362880"/>
            <a:chExt cx="2253951" cy="2108727"/>
          </a:xfrm>
          <a:solidFill>
            <a:schemeClr val="accent6"/>
          </a:solidFill>
        </p:grpSpPr>
        <p:sp>
          <p:nvSpPr>
            <p:cNvPr id="15" name="Прямоугольный треугольник 14"/>
            <p:cNvSpPr/>
            <p:nvPr/>
          </p:nvSpPr>
          <p:spPr>
            <a:xfrm rot="5400000">
              <a:off x="2994908" y="1436783"/>
              <a:ext cx="309064" cy="309064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ый треугольник 16"/>
            <p:cNvSpPr/>
            <p:nvPr/>
          </p:nvSpPr>
          <p:spPr>
            <a:xfrm rot="10800000">
              <a:off x="1946747" y="927077"/>
              <a:ext cx="592037" cy="59203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ый треугольник 17"/>
            <p:cNvSpPr/>
            <p:nvPr/>
          </p:nvSpPr>
          <p:spPr>
            <a:xfrm rot="2698663">
              <a:off x="3640240" y="851726"/>
              <a:ext cx="560458" cy="56045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ый треугольник 19"/>
            <p:cNvSpPr/>
            <p:nvPr/>
          </p:nvSpPr>
          <p:spPr>
            <a:xfrm rot="18911141">
              <a:off x="2425390" y="-362880"/>
              <a:ext cx="1016437" cy="101643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055C50F3-5B04-2D47-9418-0E6DD0E19956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3FFC0352-520B-9044-83C9-5C25DF3DAF4F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83D30F53-D553-A544-8611-B7162950712F}"/>
              </a:ext>
            </a:extLst>
          </p:cNvPr>
          <p:cNvSpPr/>
          <p:nvPr/>
        </p:nvSpPr>
        <p:spPr>
          <a:xfrm>
            <a:off x="5962790" y="32443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 </a:t>
            </a:r>
            <a:endParaRPr lang="ru-RU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="" xmlns:a16="http://schemas.microsoft.com/office/drawing/2014/main" id="{385EEE3D-3448-2244-8B8B-05B86C7396A3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>
            <a:extLst>
              <a:ext uri="{FF2B5EF4-FFF2-40B4-BE49-F238E27FC236}">
                <a16:creationId xmlns="" xmlns:a16="http://schemas.microsoft.com/office/drawing/2014/main" id="{7C2CD2B2-A3A0-E345-A615-2D96C953211D}"/>
              </a:ext>
            </a:extLst>
          </p:cNvPr>
          <p:cNvSpPr/>
          <p:nvPr/>
        </p:nvSpPr>
        <p:spPr>
          <a:xfrm>
            <a:off x="2935715" y="2370026"/>
            <a:ext cx="7430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Программа на вход получает картинку с </a:t>
            </a:r>
            <a:r>
              <a:rPr lang="ru-RU" sz="1600" dirty="0" smtClean="0"/>
              <a:t>цветком, </a:t>
            </a:r>
            <a:r>
              <a:rPr lang="ru-RU" sz="1600" dirty="0" smtClean="0"/>
              <a:t>на что выдает о нем полезную информацию для флориста, а также советует флористу подходящие к цветку букеты.</a:t>
            </a:r>
            <a:endParaRPr lang="ru-RU" sz="1600" dirty="0"/>
          </a:p>
        </p:txBody>
      </p:sp>
      <p:pic>
        <p:nvPicPr>
          <p:cNvPr id="44" name="Рисунок 43">
            <a:extLst>
              <a:ext uri="{FF2B5EF4-FFF2-40B4-BE49-F238E27FC236}">
                <a16:creationId xmlns="" xmlns:a16="http://schemas.microsoft.com/office/drawing/2014/main" id="{4577FB3E-38CC-3E44-9D80-78F621759C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786" y="3563900"/>
            <a:ext cx="692699" cy="6926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093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двумя усеченными противолежащими углами 1"/>
          <p:cNvSpPr/>
          <p:nvPr/>
        </p:nvSpPr>
        <p:spPr>
          <a:xfrm flipV="1">
            <a:off x="173736" y="1330428"/>
            <a:ext cx="12018264" cy="4407410"/>
          </a:xfrm>
          <a:prstGeom prst="snip2DiagRect">
            <a:avLst>
              <a:gd name="adj1" fmla="val 0"/>
              <a:gd name="adj2" fmla="val 13352"/>
            </a:avLst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3702" y="280897"/>
            <a:ext cx="1077501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Постановка задачи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6557" y="1644779"/>
            <a:ext cx="1127315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800" b="1" dirty="0">
                <a:solidFill>
                  <a:srgbClr val="383288"/>
                </a:solidFill>
              </a:rPr>
              <a:t>Дано: </a:t>
            </a:r>
          </a:p>
          <a:p>
            <a:pPr lvl="0"/>
            <a:r>
              <a:rPr lang="ru-RU" sz="1600" dirty="0" smtClean="0"/>
              <a:t>Изображение </a:t>
            </a:r>
            <a:r>
              <a:rPr lang="ru-RU" sz="1600" dirty="0" smtClean="0"/>
              <a:t>цветка</a:t>
            </a:r>
            <a:endParaRPr lang="ru-RU" sz="1600" dirty="0"/>
          </a:p>
          <a:p>
            <a:pPr lvl="0"/>
            <a:r>
              <a:rPr lang="ru-RU" sz="2800" b="1" dirty="0">
                <a:solidFill>
                  <a:srgbClr val="383288"/>
                </a:solidFill>
              </a:rPr>
              <a:t>Найти: </a:t>
            </a:r>
          </a:p>
          <a:p>
            <a:pPr lvl="0"/>
            <a:r>
              <a:rPr lang="ru-RU" sz="1600" dirty="0"/>
              <a:t>Алгоритм, который </a:t>
            </a:r>
            <a:r>
              <a:rPr lang="ru-RU" sz="1600" dirty="0" smtClean="0"/>
              <a:t>выдает всю полезную информацию о заданном цветке</a:t>
            </a:r>
            <a:endParaRPr lang="ru-RU" sz="1600" dirty="0"/>
          </a:p>
          <a:p>
            <a:pPr lvl="0"/>
            <a:r>
              <a:rPr lang="ru-RU" sz="2800" b="1" dirty="0">
                <a:solidFill>
                  <a:srgbClr val="383288"/>
                </a:solidFill>
              </a:rPr>
              <a:t>Критерий:</a:t>
            </a:r>
          </a:p>
          <a:p>
            <a:pPr lvl="0"/>
            <a:r>
              <a:rPr lang="ru-RU" sz="1600" dirty="0"/>
              <a:t>Алгоритм </a:t>
            </a:r>
            <a:r>
              <a:rPr lang="ru-RU" sz="1600" dirty="0" smtClean="0"/>
              <a:t>выполняет обработку изображения, дает информацию о том, где растет цветок, погодные условия для его дальнейшего проживания, а также красивые букеты, которые можно составить с данным цветком</a:t>
            </a:r>
            <a:endParaRPr lang="ru-RU" sz="1600" dirty="0"/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с двумя усеченными противолежащими углами 15"/>
          <p:cNvSpPr/>
          <p:nvPr/>
        </p:nvSpPr>
        <p:spPr>
          <a:xfrm flipH="1" flipV="1">
            <a:off x="298704" y="1235384"/>
            <a:ext cx="11734800" cy="4407410"/>
          </a:xfrm>
          <a:prstGeom prst="snip2DiagRect">
            <a:avLst>
              <a:gd name="adj1" fmla="val 0"/>
              <a:gd name="adj2" fmla="val 13352"/>
            </a:avLst>
          </a:prstGeom>
          <a:noFill/>
          <a:ln w="28575">
            <a:solidFill>
              <a:srgbClr val="38328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3162843">
            <a:off x="10634004" y="1425175"/>
            <a:ext cx="945610" cy="945610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278CB285-30D2-0C4F-BFA0-5298ABD96365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="" xmlns:a16="http://schemas.microsoft.com/office/drawing/2014/main" id="{E569F703-4013-764D-BBD4-AB16FEED2B17}"/>
              </a:ext>
            </a:extLst>
          </p:cNvPr>
          <p:cNvSpPr/>
          <p:nvPr/>
        </p:nvSpPr>
        <p:spPr>
          <a:xfrm>
            <a:off x="7723434" y="5059569"/>
            <a:ext cx="743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Формальная постановка задачи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9273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ый треугольник 4"/>
          <p:cNvSpPr/>
          <p:nvPr/>
        </p:nvSpPr>
        <p:spPr>
          <a:xfrm rot="13507742">
            <a:off x="-1978527" y="1432080"/>
            <a:ext cx="3938390" cy="393839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030A0"/>
              </a:solidFill>
            </a:endParaRPr>
          </a:p>
        </p:txBody>
      </p:sp>
      <p:sp>
        <p:nvSpPr>
          <p:cNvPr id="9" name="Прямоугольный треугольник 8"/>
          <p:cNvSpPr/>
          <p:nvPr/>
        </p:nvSpPr>
        <p:spPr>
          <a:xfrm rot="13507742">
            <a:off x="816009" y="5306117"/>
            <a:ext cx="855702" cy="855702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9D24300-53DB-BE4B-8438-36BDC8AD164A}"/>
              </a:ext>
            </a:extLst>
          </p:cNvPr>
          <p:cNvSpPr txBox="1"/>
          <p:nvPr/>
        </p:nvSpPr>
        <p:spPr>
          <a:xfrm>
            <a:off x="6053884" y="133515"/>
            <a:ext cx="677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Описание методов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="" xmlns:a16="http://schemas.microsoft.com/office/drawing/2014/main" id="{6BB36C12-2A4A-2E41-9872-8B1E6D42F47A}"/>
              </a:ext>
            </a:extLst>
          </p:cNvPr>
          <p:cNvSpPr/>
          <p:nvPr/>
        </p:nvSpPr>
        <p:spPr>
          <a:xfrm>
            <a:off x="135365" y="330567"/>
            <a:ext cx="743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rgbClr val="00B050"/>
                </a:solidFill>
              </a:rPr>
              <a:t>Описание использованных методов, например  </a:t>
            </a:r>
            <a:r>
              <a:rPr lang="en-US" sz="1600" i="1" dirty="0">
                <a:solidFill>
                  <a:srgbClr val="00B050"/>
                </a:solidFill>
              </a:rPr>
              <a:t>KNN</a:t>
            </a:r>
            <a:endParaRPr lang="ru-RU" sz="1600" i="1" dirty="0">
              <a:solidFill>
                <a:srgbClr val="00B050"/>
              </a:solidFill>
            </a:endParaRPr>
          </a:p>
        </p:txBody>
      </p:sp>
      <p:sp>
        <p:nvSpPr>
          <p:cNvPr id="15" name="Прямоугольник с двумя усеченными противолежащими углами 1">
            <a:extLst>
              <a:ext uri="{FF2B5EF4-FFF2-40B4-BE49-F238E27FC236}">
                <a16:creationId xmlns="" xmlns:a16="http://schemas.microsoft.com/office/drawing/2014/main" id="{76B38953-BE9E-B54D-AEBC-A9DAEBBC696C}"/>
              </a:ext>
            </a:extLst>
          </p:cNvPr>
          <p:cNvSpPr/>
          <p:nvPr/>
        </p:nvSpPr>
        <p:spPr>
          <a:xfrm flipV="1">
            <a:off x="649073" y="818187"/>
            <a:ext cx="5199888" cy="2626894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с двумя усеченными противолежащими углами 17">
            <a:extLst>
              <a:ext uri="{FF2B5EF4-FFF2-40B4-BE49-F238E27FC236}">
                <a16:creationId xmlns="" xmlns:a16="http://schemas.microsoft.com/office/drawing/2014/main" id="{2DF14566-E25E-2F43-9A0F-2618B970EBED}"/>
              </a:ext>
            </a:extLst>
          </p:cNvPr>
          <p:cNvSpPr/>
          <p:nvPr/>
        </p:nvSpPr>
        <p:spPr>
          <a:xfrm flipH="1" flipV="1">
            <a:off x="552277" y="3886400"/>
            <a:ext cx="5199888" cy="2626894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с двумя усеченными противолежащими углами 18">
            <a:extLst>
              <a:ext uri="{FF2B5EF4-FFF2-40B4-BE49-F238E27FC236}">
                <a16:creationId xmlns="" xmlns:a16="http://schemas.microsoft.com/office/drawing/2014/main" id="{468A42C5-0A6D-F048-AA83-241D4C1F0ED9}"/>
              </a:ext>
            </a:extLst>
          </p:cNvPr>
          <p:cNvSpPr/>
          <p:nvPr/>
        </p:nvSpPr>
        <p:spPr>
          <a:xfrm flipH="1" flipV="1">
            <a:off x="6270114" y="818187"/>
            <a:ext cx="5199888" cy="2626894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с двумя усеченными противолежащими углами 19">
            <a:extLst>
              <a:ext uri="{FF2B5EF4-FFF2-40B4-BE49-F238E27FC236}">
                <a16:creationId xmlns="" xmlns:a16="http://schemas.microsoft.com/office/drawing/2014/main" id="{3BB1E729-8B4D-8244-8985-D6D4B6219F08}"/>
              </a:ext>
            </a:extLst>
          </p:cNvPr>
          <p:cNvSpPr/>
          <p:nvPr/>
        </p:nvSpPr>
        <p:spPr>
          <a:xfrm flipV="1">
            <a:off x="6270114" y="3886400"/>
            <a:ext cx="5199888" cy="2626894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850EA78A-53BF-DB41-A05A-7B823A48E4E8}"/>
              </a:ext>
            </a:extLst>
          </p:cNvPr>
          <p:cNvSpPr txBox="1"/>
          <p:nvPr/>
        </p:nvSpPr>
        <p:spPr>
          <a:xfrm>
            <a:off x="1033272" y="5030570"/>
            <a:ext cx="41970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+mj-lt"/>
              </a:rPr>
              <a:t>Метод основан на классификации объекта на основе меток класса его ближайших соседей в пространстве признаков</a:t>
            </a:r>
            <a:endParaRPr lang="ru-RU" sz="1600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9415AA9-D113-1E42-85B2-32B48744BB36}"/>
              </a:ext>
            </a:extLst>
          </p:cNvPr>
          <p:cNvSpPr txBox="1"/>
          <p:nvPr/>
        </p:nvSpPr>
        <p:spPr>
          <a:xfrm>
            <a:off x="1188720" y="1962357"/>
            <a:ext cx="4187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+mj-lt"/>
              </a:rPr>
              <a:t>Метод </a:t>
            </a:r>
            <a:r>
              <a:rPr lang="en-US" sz="1600" dirty="0" smtClean="0">
                <a:latin typeface="+mj-lt"/>
              </a:rPr>
              <a:t>KNN</a:t>
            </a:r>
            <a:endParaRPr lang="ru-RU" sz="1600" dirty="0">
              <a:latin typeface="+mj-lt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="" xmlns:a16="http://schemas.microsoft.com/office/drawing/2014/main" id="{619B5D9E-6190-384F-AC80-01C6C6C194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387" y="3318714"/>
            <a:ext cx="744301" cy="7443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583114F-3655-6A4F-8445-4E0BA4F04A41}"/>
              </a:ext>
            </a:extLst>
          </p:cNvPr>
          <p:cNvSpPr txBox="1"/>
          <p:nvPr/>
        </p:nvSpPr>
        <p:spPr>
          <a:xfrm>
            <a:off x="6885432" y="5030570"/>
            <a:ext cx="4041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+mj-lt"/>
              </a:rPr>
              <a:t>Метод основан на оценке вероятности принадлежности к классу объекта</a:t>
            </a:r>
            <a:endParaRPr lang="ru-RU" sz="16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ACFEA19-E0ED-3D4E-B540-635C86DEE3FC}"/>
              </a:ext>
            </a:extLst>
          </p:cNvPr>
          <p:cNvSpPr txBox="1"/>
          <p:nvPr/>
        </p:nvSpPr>
        <p:spPr>
          <a:xfrm>
            <a:off x="6720840" y="1962357"/>
            <a:ext cx="4206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err="1" smtClean="0">
                <a:latin typeface="+mj-lt"/>
              </a:rPr>
              <a:t>Логистическая</a:t>
            </a:r>
            <a:r>
              <a:rPr lang="ru-RU" sz="1600" dirty="0" smtClean="0">
                <a:latin typeface="+mj-lt"/>
              </a:rPr>
              <a:t> регрессия</a:t>
            </a:r>
            <a:endParaRPr lang="ru-RU" sz="16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9487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467350" y="280897"/>
            <a:ext cx="59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Результаты работы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02AD665B-FC6A-2049-8833-472019BBC822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4D011D08-0F0A-8F48-AA01-159E69920130}"/>
              </a:ext>
            </a:extLst>
          </p:cNvPr>
          <p:cNvSpPr/>
          <p:nvPr/>
        </p:nvSpPr>
        <p:spPr>
          <a:xfrm>
            <a:off x="625642" y="3146814"/>
            <a:ext cx="518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Алгоритм может ошибаться, он находит несуществующие объекты, а также подписывает объекты не своими классами</a:t>
            </a:r>
            <a:endParaRPr lang="ru-RU" sz="16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="" xmlns:a16="http://schemas.microsoft.com/office/drawing/2014/main" id="{28BA4745-A283-4D47-8CF2-9586519EB5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16" y="2243925"/>
            <a:ext cx="770144" cy="7701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0E398ED-BF79-4D40-B5D5-979F6EF07747}"/>
              </a:ext>
            </a:extLst>
          </p:cNvPr>
          <p:cNvSpPr txBox="1"/>
          <p:nvPr/>
        </p:nvSpPr>
        <p:spPr>
          <a:xfrm>
            <a:off x="10210800" y="6524625"/>
            <a:ext cx="146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smtClean="0">
                <a:solidFill>
                  <a:srgbClr val="383288"/>
                </a:solidFill>
              </a:rPr>
              <a:t>[</a:t>
            </a:r>
            <a:r>
              <a:rPr lang="ru-RU" sz="800" b="1" smtClean="0">
                <a:solidFill>
                  <a:srgbClr val="383288"/>
                </a:solidFill>
              </a:rPr>
              <a:t>Результаты работы</a:t>
            </a:r>
            <a:r>
              <a:rPr lang="en-US" sz="800" b="1" smtClean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290C1297-00AC-414A-B811-4E763B3213C3}"/>
              </a:ext>
            </a:extLst>
          </p:cNvPr>
          <p:cNvSpPr txBox="1"/>
          <p:nvPr/>
        </p:nvSpPr>
        <p:spPr>
          <a:xfrm>
            <a:off x="340054" y="6512515"/>
            <a:ext cx="18125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383288"/>
                </a:solidFill>
              </a:rPr>
              <a:t>[</a:t>
            </a:r>
            <a:r>
              <a:rPr lang="ru-RU" sz="800" b="1" dirty="0">
                <a:solidFill>
                  <a:srgbClr val="383288"/>
                </a:solidFill>
              </a:rPr>
              <a:t>Краткое название</a:t>
            </a:r>
            <a:r>
              <a:rPr lang="en-US" sz="800" b="1" dirty="0">
                <a:solidFill>
                  <a:srgbClr val="383288"/>
                </a:solidFill>
              </a:rPr>
              <a:t>]</a:t>
            </a:r>
            <a:endParaRPr lang="ru-RU" sz="800" b="1" dirty="0">
              <a:solidFill>
                <a:srgbClr val="383288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35562" y="924026"/>
            <a:ext cx="3442720" cy="344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12928" y="2820286"/>
            <a:ext cx="2668546" cy="3558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2220228" y="1359916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 smtClean="0"/>
              <a:t>Алгоритм </a:t>
            </a:r>
            <a:r>
              <a:rPr lang="ru-RU" sz="1600" dirty="0" smtClean="0"/>
              <a:t>находит </a:t>
            </a:r>
            <a:r>
              <a:rPr lang="ru-RU" sz="1600" dirty="0" smtClean="0"/>
              <a:t>нужные объекты</a:t>
            </a:r>
            <a:r>
              <a:rPr lang="ru-RU" sz="1600" dirty="0" smtClean="0"/>
              <a:t> </a:t>
            </a:r>
            <a:r>
              <a:rPr lang="ru-RU" sz="1600" dirty="0" smtClean="0"/>
              <a:t>и подписывает их так как надо</a:t>
            </a:r>
            <a:endParaRPr lang="ru-RU" sz="1600" dirty="0"/>
          </a:p>
        </p:txBody>
      </p:sp>
    </p:spTree>
    <p:extLst>
      <p:ext uri="{BB962C8B-B14F-4D97-AF65-F5344CB8AC3E}">
        <p14:creationId xmlns="" xmlns:p14="http://schemas.microsoft.com/office/powerpoint/2010/main" val="2645413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95350" y="280897"/>
            <a:ext cx="702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Аналитика результатов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4" name="Прямоугольный треугольник 13"/>
          <p:cNvSpPr/>
          <p:nvPr/>
        </p:nvSpPr>
        <p:spPr>
          <a:xfrm rot="13510417">
            <a:off x="-438329" y="180498"/>
            <a:ext cx="873898" cy="873898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/>
          <p:cNvSpPr/>
          <p:nvPr/>
        </p:nvSpPr>
        <p:spPr>
          <a:xfrm rot="2713161">
            <a:off x="11946107" y="6134323"/>
            <a:ext cx="491786" cy="49178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02AD665B-FC6A-2049-8833-472019BBC822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="" xmlns:a16="http://schemas.microsoft.com/office/drawing/2014/main" id="{BC8EB5B1-53D2-474B-AD23-9128FEC7CE34}"/>
              </a:ext>
            </a:extLst>
          </p:cNvPr>
          <p:cNvSpPr/>
          <p:nvPr/>
        </p:nvSpPr>
        <p:spPr>
          <a:xfrm>
            <a:off x="1125516" y="1455626"/>
            <a:ext cx="743055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  <a:p>
            <a:endParaRPr lang="ru-RU" sz="1600" i="1" dirty="0">
              <a:solidFill>
                <a:srgbClr val="00B050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18D0AC3E-0DE3-A84F-9059-B9E039618B8D}"/>
              </a:ext>
            </a:extLst>
          </p:cNvPr>
          <p:cNvSpPr/>
          <p:nvPr/>
        </p:nvSpPr>
        <p:spPr>
          <a:xfrm>
            <a:off x="1125516" y="3881026"/>
            <a:ext cx="9641805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1000"/>
              </a:spcBef>
            </a:pPr>
            <a:r>
              <a:rPr lang="ru-RU" sz="1600" dirty="0" smtClean="0">
                <a:solidFill>
                  <a:srgbClr val="000000"/>
                </a:solidFill>
              </a:rPr>
              <a:t>ОБРАЗОВАНИЕ</a:t>
            </a:r>
            <a:endParaRPr lang="ru-RU" sz="1600" dirty="0">
              <a:solidFill>
                <a:srgbClr val="000000"/>
              </a:solidFill>
            </a:endParaRPr>
          </a:p>
          <a:p>
            <a:pPr marL="457200">
              <a:spcBef>
                <a:spcPts val="1000"/>
              </a:spcBef>
            </a:pPr>
            <a:r>
              <a:rPr lang="ru-RU" sz="1600" dirty="0">
                <a:solidFill>
                  <a:srgbClr val="000000"/>
                </a:solidFill>
              </a:rPr>
              <a:t>Наша программа </a:t>
            </a:r>
            <a:r>
              <a:rPr lang="ru-RU" sz="1600" dirty="0" smtClean="0">
                <a:solidFill>
                  <a:srgbClr val="000000"/>
                </a:solidFill>
              </a:rPr>
              <a:t>может пригодится в быстром обучении к работе флористом, для проверки своих знаний..</a:t>
            </a:r>
            <a:endParaRPr lang="ru-RU" sz="1600" dirty="0">
              <a:solidFill>
                <a:srgbClr val="000000"/>
              </a:solidFill>
            </a:endParaRPr>
          </a:p>
          <a:p>
            <a:pPr fontAlgn="base">
              <a:spcBef>
                <a:spcPts val="1000"/>
              </a:spcBef>
            </a:pPr>
            <a:r>
              <a:rPr lang="ru-RU" sz="1600" dirty="0" smtClean="0">
                <a:solidFill>
                  <a:srgbClr val="000000"/>
                </a:solidFill>
              </a:rPr>
              <a:t>ИССЛЕДОВАНИЯ И САМОРАЗВИТИЕ</a:t>
            </a:r>
            <a:endParaRPr lang="ru-RU" sz="1600" dirty="0">
              <a:solidFill>
                <a:srgbClr val="000000"/>
              </a:solidFill>
            </a:endParaRPr>
          </a:p>
          <a:p>
            <a:pPr marL="457200">
              <a:spcBef>
                <a:spcPts val="1000"/>
              </a:spcBef>
            </a:pPr>
            <a:r>
              <a:rPr lang="ru-RU" sz="1600" dirty="0">
                <a:solidFill>
                  <a:srgbClr val="000000"/>
                </a:solidFill>
              </a:rPr>
              <a:t>Благодаря нашей программе, </a:t>
            </a:r>
            <a:r>
              <a:rPr lang="ru-RU" sz="1600" dirty="0" smtClean="0">
                <a:solidFill>
                  <a:srgbClr val="000000"/>
                </a:solidFill>
              </a:rPr>
              <a:t>будет возможным изучать окружающие растения вокруг, например, вашего </a:t>
            </a:r>
            <a:r>
              <a:rPr lang="ru-RU" sz="1600" dirty="0" smtClean="0">
                <a:solidFill>
                  <a:srgbClr val="000000"/>
                </a:solidFill>
              </a:rPr>
              <a:t>дома, что может стать основой для различных исследований или же просто для саморазвития.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/>
            </a:r>
            <a:br>
              <a:rPr lang="ru-RU" sz="1600" dirty="0"/>
            </a:br>
            <a:endParaRPr lang="ru-RU" sz="16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BF9A21EF-BD3F-8541-BF2F-35B415B891E5}"/>
              </a:ext>
            </a:extLst>
          </p:cNvPr>
          <p:cNvSpPr/>
          <p:nvPr/>
        </p:nvSpPr>
        <p:spPr>
          <a:xfrm>
            <a:off x="1125516" y="1801953"/>
            <a:ext cx="101711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00"/>
                </a:solidFill>
              </a:rPr>
              <a:t>Исследована </a:t>
            </a:r>
            <a:r>
              <a:rPr lang="ru-RU" sz="1600" dirty="0" smtClean="0">
                <a:solidFill>
                  <a:srgbClr val="000000"/>
                </a:solidFill>
              </a:rPr>
              <a:t>возможность и качество обучения модели </a:t>
            </a:r>
            <a:r>
              <a:rPr lang="en-US" sz="1600" dirty="0" smtClean="0">
                <a:solidFill>
                  <a:srgbClr val="000000"/>
                </a:solidFill>
              </a:rPr>
              <a:t>YOLO</a:t>
            </a:r>
            <a:r>
              <a:rPr lang="ru-RU" sz="1600" dirty="0" smtClean="0">
                <a:solidFill>
                  <a:srgbClr val="000000"/>
                </a:solidFill>
              </a:rPr>
              <a:t>. Созданный алгоритм работает исправно в большинстве случаев</a:t>
            </a:r>
            <a:r>
              <a:rPr lang="ru-RU" sz="1600" dirty="0" smtClean="0">
                <a:solidFill>
                  <a:srgbClr val="000000"/>
                </a:solidFill>
              </a:rPr>
              <a:t>. Ошибается алгоритм в случаях, когда искомые предметы всячески повернуты. </a:t>
            </a:r>
            <a:endParaRPr lang="ru-RU" sz="16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="" xmlns:a16="http://schemas.microsoft.com/office/drawing/2014/main" id="{1B0C2EBF-5364-C74F-B05E-4E7156D9C2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772537">
            <a:off x="10299741" y="2795462"/>
            <a:ext cx="1434474" cy="14344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099717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ый треугольник 121"/>
          <p:cNvSpPr/>
          <p:nvPr/>
        </p:nvSpPr>
        <p:spPr>
          <a:xfrm rot="16200000">
            <a:off x="8985301" y="3641300"/>
            <a:ext cx="3216699" cy="321669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901488" y="258633"/>
            <a:ext cx="12199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>
                <a:solidFill>
                  <a:srgbClr val="383288"/>
                </a:solidFill>
              </a:rPr>
              <a:t>                     </a:t>
            </a:r>
            <a:r>
              <a:rPr lang="en-US" sz="3600" b="1" dirty="0" smtClean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Команда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r>
              <a:rPr lang="ru-RU" sz="3600" b="1" dirty="0">
                <a:solidFill>
                  <a:srgbClr val="383288"/>
                </a:solidFill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5087" y="4548613"/>
            <a:ext cx="20908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Звонарев Иван Сергеевич,</a:t>
            </a:r>
          </a:p>
          <a:p>
            <a:r>
              <a:rPr lang="ru-RU" sz="1600" dirty="0" smtClean="0"/>
              <a:t>Руководитель,</a:t>
            </a:r>
            <a:br>
              <a:rPr lang="ru-RU" sz="1600" dirty="0" smtClean="0"/>
            </a:br>
            <a:r>
              <a:rPr lang="en-US" sz="1600" dirty="0" smtClean="0"/>
              <a:t>VK</a:t>
            </a:r>
            <a:r>
              <a:rPr lang="en-US" sz="1600" dirty="0" smtClean="0"/>
              <a:t>/@</a:t>
            </a:r>
            <a:r>
              <a:rPr lang="en-US" sz="1600" dirty="0" smtClean="0"/>
              <a:t>royal00blood</a:t>
            </a:r>
            <a:endParaRPr lang="ru-RU" sz="1600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AD6D18E-9765-1942-9083-A95A93C07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34032" y="1701764"/>
            <a:ext cx="1992294" cy="1731319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1600" i="1" dirty="0">
                <a:solidFill>
                  <a:schemeClr val="accent2"/>
                </a:solidFill>
              </a:rPr>
              <a:t>Место для фото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C62A5914-8BE4-F843-B4C0-CA95BBEFFCA5}"/>
              </a:ext>
            </a:extLst>
          </p:cNvPr>
          <p:cNvCxnSpPr>
            <a:cxnSpLocks/>
          </p:cNvCxnSpPr>
          <p:nvPr/>
        </p:nvCxnSpPr>
        <p:spPr>
          <a:xfrm>
            <a:off x="-8796" y="6377178"/>
            <a:ext cx="9699180" cy="0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EE6BD5F0-5087-E34B-BAFE-491E98813D75}"/>
              </a:ext>
            </a:extLst>
          </p:cNvPr>
          <p:cNvSpPr txBox="1"/>
          <p:nvPr/>
        </p:nvSpPr>
        <p:spPr>
          <a:xfrm>
            <a:off x="6828705" y="3657225"/>
            <a:ext cx="22197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 smtClean="0"/>
              <a:t>Вершинин</a:t>
            </a:r>
            <a:r>
              <a:rPr lang="ru-RU" sz="1600" dirty="0" smtClean="0"/>
              <a:t> Александр, </a:t>
            </a:r>
            <a:endParaRPr lang="ru-RU" sz="1600" dirty="0"/>
          </a:p>
          <a:p>
            <a:r>
              <a:rPr lang="ru-RU" sz="1600" dirty="0" smtClean="0"/>
              <a:t>Программист-разработчик</a:t>
            </a:r>
            <a:endParaRPr lang="ru-RU" sz="1600" dirty="0"/>
          </a:p>
        </p:txBody>
      </p:sp>
      <p:sp>
        <p:nvSpPr>
          <p:cNvPr id="19" name="Объект 2">
            <a:extLst>
              <a:ext uri="{FF2B5EF4-FFF2-40B4-BE49-F238E27FC236}">
                <a16:creationId xmlns="" xmlns:a16="http://schemas.microsoft.com/office/drawing/2014/main" id="{7AE1F650-8694-7149-8B1C-77B9663CB93C}"/>
              </a:ext>
            </a:extLst>
          </p:cNvPr>
          <p:cNvSpPr txBox="1">
            <a:spLocks/>
          </p:cNvSpPr>
          <p:nvPr/>
        </p:nvSpPr>
        <p:spPr>
          <a:xfrm>
            <a:off x="6799149" y="1753652"/>
            <a:ext cx="1992294" cy="173131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i="1">
                <a:solidFill>
                  <a:schemeClr val="accent2"/>
                </a:solidFill>
              </a:rPr>
              <a:t>Место для фото</a:t>
            </a:r>
            <a:endParaRPr lang="ru-RU" sz="1600" i="1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6146" name="Picture 2" descr="https://sun9-68.userapi.com/s/v1/ig2/viUO16TvrSVg05LwwuFOh_KligSjZ0sKSBwMleuDZGNOCOUcZfpzl9Vgn9EoFFG32LbVWQd-nJbOZNonCXT5N5ob.jpg?quality=95&amp;as=32x43,48x64,72x96,108x144,160x213,240x320,360x479,480x639,540x719,640x852,720x959,1080x1438,1280x1705,1440x1918,1922x2560&amp;from=bu&amp;cs=1922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9853" y="1587848"/>
            <a:ext cx="2096644" cy="27926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0250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34364" y="2199900"/>
            <a:ext cx="66767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 smtClean="0"/>
              <a:t>«В любом проекте важнейшим фактором является вера в успех. Без веры успех невозможен»</a:t>
            </a:r>
            <a:endParaRPr lang="ru-RU" sz="2800" b="1" dirty="0" smtClean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ru-RU" sz="28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90944" y="4767828"/>
            <a:ext cx="272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Уильям Джеймс</a:t>
            </a:r>
            <a:endParaRPr lang="ru-RU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Прямоугольный треугольник 4"/>
          <p:cNvSpPr/>
          <p:nvPr/>
        </p:nvSpPr>
        <p:spPr>
          <a:xfrm rot="13507742">
            <a:off x="-1978527" y="1374930"/>
            <a:ext cx="3938390" cy="3938390"/>
          </a:xfrm>
          <a:prstGeom prst="rtTriangle">
            <a:avLst/>
          </a:prstGeom>
          <a:solidFill>
            <a:srgbClr val="1EDD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59" y="1738503"/>
            <a:ext cx="3952875" cy="3600450"/>
          </a:xfrm>
          <a:prstGeom prst="rect">
            <a:avLst/>
          </a:prstGeom>
        </p:spPr>
      </p:pic>
      <p:sp>
        <p:nvSpPr>
          <p:cNvPr id="9" name="Прямоугольный треугольник 8"/>
          <p:cNvSpPr/>
          <p:nvPr/>
        </p:nvSpPr>
        <p:spPr>
          <a:xfrm rot="13507742">
            <a:off x="816009" y="5306117"/>
            <a:ext cx="855702" cy="855702"/>
          </a:xfrm>
          <a:prstGeom prst="rtTriangle">
            <a:avLst/>
          </a:prstGeom>
          <a:solidFill>
            <a:srgbClr val="B8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746094" y="243211"/>
            <a:ext cx="1076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83288"/>
                </a:solidFill>
              </a:rPr>
              <a:t>[</a:t>
            </a:r>
            <a:r>
              <a:rPr lang="ru-RU" sz="3600" b="1" dirty="0">
                <a:solidFill>
                  <a:srgbClr val="383288"/>
                </a:solidFill>
              </a:rPr>
              <a:t>Вопросы</a:t>
            </a:r>
            <a:r>
              <a:rPr lang="en-US" sz="3600" b="1" dirty="0">
                <a:solidFill>
                  <a:srgbClr val="383288"/>
                </a:solidFill>
              </a:rPr>
              <a:t>]</a:t>
            </a:r>
            <a:endParaRPr lang="ru-RU" sz="3600" b="1" dirty="0">
              <a:solidFill>
                <a:srgbClr val="383288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6506F3E-4A74-A849-B5E9-84F3249CC2AA}"/>
              </a:ext>
            </a:extLst>
          </p:cNvPr>
          <p:cNvSpPr txBox="1"/>
          <p:nvPr/>
        </p:nvSpPr>
        <p:spPr>
          <a:xfrm>
            <a:off x="5401722" y="6512515"/>
            <a:ext cx="1560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38D4D6"/>
                </a:solidFill>
              </a:rPr>
              <a:t>НАПРАВЛЕНИЕ НЕЙРО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A8F-34D8-4C4D-BF8F-7BFCB9C228E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718833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A7988B"/>
      </a:accent2>
      <a:accent3>
        <a:srgbClr val="6E0C24"/>
      </a:accent3>
      <a:accent4>
        <a:srgbClr val="FFC000"/>
      </a:accent4>
      <a:accent5>
        <a:srgbClr val="5B9BD5"/>
      </a:accent5>
      <a:accent6>
        <a:srgbClr val="1EDCC3"/>
      </a:accent6>
      <a:hlink>
        <a:srgbClr val="0563C1"/>
      </a:hlink>
      <a:folHlink>
        <a:srgbClr val="954F72"/>
      </a:folHlink>
    </a:clrScheme>
    <a:fontScheme name="Калашников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10329</TotalTime>
  <Words>596</Words>
  <Application>Microsoft Office PowerPoint</Application>
  <PresentationFormat>Произвольный</PresentationFormat>
  <Paragraphs>151</Paragraphs>
  <Slides>12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Company>OAO "Koncern Kalashnikov"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Margarita Shirobokova</dc:creator>
  <cp:lastModifiedBy>RePack by Diakov</cp:lastModifiedBy>
  <cp:revision>441</cp:revision>
  <dcterms:created xsi:type="dcterms:W3CDTF">2019-07-19T08:59:36Z</dcterms:created>
  <dcterms:modified xsi:type="dcterms:W3CDTF">2026-05-22T07:24:49Z</dcterms:modified>
</cp:coreProperties>
</file>